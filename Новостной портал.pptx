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64" r:id="rId8"/>
    <p:sldId id="273" r:id="rId9"/>
    <p:sldId id="274" r:id="rId10"/>
    <p:sldId id="271" r:id="rId11"/>
    <p:sldId id="272" r:id="rId12"/>
    <p:sldId id="265" r:id="rId13"/>
    <p:sldId id="262" r:id="rId14"/>
    <p:sldId id="257" r:id="rId15"/>
    <p:sldId id="258" r:id="rId16"/>
    <p:sldId id="259" r:id="rId17"/>
    <p:sldId id="275" r:id="rId18"/>
    <p:sldId id="276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-2789" y="-10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0272CB1F-7F4B-480E-AFAD-C1D399D39E5F}" type="datetimeFigureOut">
              <a:rPr lang="ru-RU" smtClean="0"/>
              <a:t>11.07.2026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A06A2669-ECFC-4127-8661-78D67EFE12E6}" type="slidenum">
              <a:rPr lang="ru-RU" smtClean="0"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apl.ru/ru/asutpforum.ru/" TargetMode="External"/><Relationship Id="rId2" Type="http://schemas.openxmlformats.org/officeDocument/2006/relationships/hyperlink" Target="https://asutpforum.ru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sutpforum.ru/viewforum.php?f=162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ru-RU" b="1" dirty="0"/>
              <a:t>Блог/новостной портал </a:t>
            </a:r>
            <a:r>
              <a:rPr lang="ru-RU" b="1" dirty="0" smtClean="0"/>
              <a:t>АСУТП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Пользователи могут регистрироваться, читать статьи, оставлять комментарии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86000" y="479715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Имя</a:t>
            </a:r>
            <a:r>
              <a:rPr lang="en-US" b="1" dirty="0" smtClean="0"/>
              <a:t>: </a:t>
            </a:r>
            <a:r>
              <a:rPr lang="ru-RU" b="1" dirty="0" err="1" smtClean="0"/>
              <a:t>Чиганов</a:t>
            </a:r>
            <a:r>
              <a:rPr lang="ru-RU" b="1" dirty="0" smtClean="0"/>
              <a:t> Сергей</a:t>
            </a:r>
          </a:p>
          <a:p>
            <a:r>
              <a:rPr lang="ru-RU" b="1" dirty="0" smtClean="0"/>
              <a:t>Студент курса</a:t>
            </a:r>
            <a:r>
              <a:rPr lang="en-US" b="1" dirty="0" smtClean="0"/>
              <a:t>: </a:t>
            </a:r>
            <a:r>
              <a:rPr lang="ru-RU" dirty="0" smtClean="0"/>
              <a:t>Веб-разработка </a:t>
            </a:r>
            <a:r>
              <a:rPr lang="ru-RU" dirty="0"/>
              <a:t>на </a:t>
            </a:r>
            <a:r>
              <a:rPr lang="en-US" dirty="0" smtClean="0"/>
              <a:t>Python</a:t>
            </a:r>
            <a:r>
              <a:rPr lang="en-US" b="1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37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8208912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029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</a:t>
            </a:r>
            <a:r>
              <a:rPr lang="ru-RU" dirty="0" smtClean="0"/>
              <a:t>писание </a:t>
            </a:r>
            <a:r>
              <a:rPr lang="ru-RU" dirty="0"/>
              <a:t>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Этот </a:t>
            </a:r>
            <a:r>
              <a:rPr lang="ru-RU" dirty="0"/>
              <a:t>проект представляет собой функциональный веб-сервис </a:t>
            </a:r>
            <a:r>
              <a:rPr lang="ru-RU" dirty="0" smtClean="0"/>
              <a:t>новостей АСУТП для </a:t>
            </a:r>
            <a:r>
              <a:rPr lang="ru-RU" dirty="0"/>
              <a:t>публикации </a:t>
            </a:r>
            <a:r>
              <a:rPr lang="ru-RU" dirty="0" smtClean="0"/>
              <a:t>инженерами АСУТП контента </a:t>
            </a:r>
            <a:r>
              <a:rPr lang="ru-RU" dirty="0"/>
              <a:t>и социального взаимодействия, построенный на базе </a:t>
            </a:r>
            <a:r>
              <a:rPr lang="ru-RU" dirty="0" err="1"/>
              <a:t>фреймворка</a:t>
            </a:r>
            <a:r>
              <a:rPr lang="ru-RU" dirty="0"/>
              <a:t> </a:t>
            </a:r>
            <a:r>
              <a:rPr lang="ru-RU" dirty="0" err="1"/>
              <a:t>Django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58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Постановка задачи / Проблематика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dirty="0"/>
              <a:t>Основная задача форума — создать пространство, где инженеры, программисты, технические писатели и другие специалисты по АСУТП (автоматизированным системам управления технологическими процессами) могут:</a:t>
            </a:r>
          </a:p>
          <a:p>
            <a:r>
              <a:rPr lang="ru-RU" b="1" dirty="0"/>
              <a:t>Обсуждать сложные технические вопросы.</a:t>
            </a:r>
            <a:r>
              <a:rPr lang="ru-RU" dirty="0"/>
              <a:t> Участники делятся опытом, разбирают ошибки и ищут решения проблем, связанных с программируемыми логическими контроллерами (ПЛК), SCADA-системами, сетевым оборудованием (например, </a:t>
            </a:r>
            <a:r>
              <a:rPr lang="ru-RU" dirty="0" err="1"/>
              <a:t>Profibus</a:t>
            </a:r>
            <a:r>
              <a:rPr lang="ru-RU" dirty="0"/>
              <a:t>, </a:t>
            </a:r>
            <a:r>
              <a:rPr lang="ru-RU" dirty="0" err="1"/>
              <a:t>Modbus</a:t>
            </a:r>
            <a:r>
              <a:rPr lang="ru-RU" dirty="0"/>
              <a:t>), языками программирования для ПЛК и их интеграцией с человеко-машинными интерфейсами (HMI). </a:t>
            </a:r>
            <a:r>
              <a:rPr lang="ru-RU" dirty="0">
                <a:hlinkClick r:id="rId2"/>
              </a:rPr>
              <a:t>asutpforum.ru</a:t>
            </a:r>
            <a:r>
              <a:rPr lang="ru-RU" dirty="0">
                <a:hlinkClick r:id="rId3"/>
              </a:rPr>
              <a:t>yapl.ru</a:t>
            </a:r>
            <a:r>
              <a:rPr lang="ru-RU" dirty="0">
                <a:hlinkClick r:id="rId4"/>
              </a:rPr>
              <a:t>asutpforum.ru</a:t>
            </a:r>
            <a:endParaRPr lang="ru-RU" dirty="0"/>
          </a:p>
          <a:p>
            <a:r>
              <a:rPr lang="ru-RU" b="1" dirty="0"/>
              <a:t>Сравнивать подходы и решения.</a:t>
            </a:r>
            <a:r>
              <a:rPr lang="ru-RU" dirty="0"/>
              <a:t> Можно узнать, как коллеги решают схожие задачи с оборудованием разных производителей (</a:t>
            </a:r>
            <a:r>
              <a:rPr lang="ru-RU" dirty="0" err="1"/>
              <a:t>Siemens</a:t>
            </a:r>
            <a:r>
              <a:rPr lang="ru-RU" dirty="0"/>
              <a:t>, </a:t>
            </a:r>
            <a:r>
              <a:rPr lang="ru-RU" dirty="0" err="1"/>
              <a:t>Schneider</a:t>
            </a:r>
            <a:r>
              <a:rPr lang="ru-RU" dirty="0"/>
              <a:t> </a:t>
            </a:r>
            <a:r>
              <a:rPr lang="ru-RU" dirty="0" err="1"/>
              <a:t>Electric</a:t>
            </a:r>
            <a:r>
              <a:rPr lang="ru-RU" dirty="0"/>
              <a:t>, ОВЕН и др.). </a:t>
            </a:r>
            <a:r>
              <a:rPr lang="ru-RU" dirty="0">
                <a:hlinkClick r:id="rId3"/>
              </a:rPr>
              <a:t>yapl.ru</a:t>
            </a:r>
            <a:endParaRPr lang="ru-RU" dirty="0"/>
          </a:p>
          <a:p>
            <a:r>
              <a:rPr lang="ru-RU" b="1" dirty="0"/>
              <a:t>Находить готовые решения и FAQ.</a:t>
            </a:r>
            <a:r>
              <a:rPr lang="ru-RU" dirty="0"/>
              <a:t> На форуме есть разделы с часто задаваемыми вопросами (FAQ), которые помогают быстро получить ответ на типовые технические проблемы. </a:t>
            </a:r>
            <a:r>
              <a:rPr lang="ru-RU" dirty="0">
                <a:hlinkClick r:id="rId2"/>
              </a:rPr>
              <a:t>asutpforum.ru</a:t>
            </a:r>
            <a:endParaRPr lang="ru-RU" dirty="0"/>
          </a:p>
          <a:p>
            <a:r>
              <a:rPr lang="ru-RU" b="1" dirty="0"/>
              <a:t>Поддерживать профессиональное сообщество.</a:t>
            </a:r>
            <a:r>
              <a:rPr lang="ru-RU" dirty="0"/>
              <a:t> Форум объединяет специалистов, позволяя им оставаться в курсе отраслевых трендов и оперативно обмениваться знаниями. </a:t>
            </a:r>
            <a:r>
              <a:rPr lang="ru-RU" dirty="0">
                <a:hlinkClick r:id="rId3"/>
              </a:rPr>
              <a:t>yapl.ru</a:t>
            </a:r>
            <a:endParaRPr lang="ru-RU" dirty="0"/>
          </a:p>
          <a:p>
            <a:r>
              <a:rPr lang="ru-RU" dirty="0"/>
              <a:t>Таким образом, площадка помогает преодолеть разобщённость: вместо того чтобы искать разрозненную информацию по разным источникам, участники могут оперативно получить помощь от коллег. Это особенно важно в такой технически сложной и динамичной сфере, как промышленная автоматизация.</a:t>
            </a:r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 </a:t>
            </a:r>
            <a:r>
              <a:rPr lang="ru-RU" dirty="0" smtClean="0"/>
              <a:t>    Это</a:t>
            </a:r>
            <a:r>
              <a:rPr lang="ru-RU" dirty="0"/>
              <a:t> форум для специалистов в области АСУ ТП (автоматизированных систем управления технологическими процессами), электротехники и промышленной автоматизации.</a:t>
            </a:r>
          </a:p>
          <a:p>
            <a:pPr marL="536575" indent="-536575"/>
            <a:r>
              <a:rPr lang="ru-RU" b="1" dirty="0"/>
              <a:t>Какие проблемы помогает </a:t>
            </a:r>
            <a:r>
              <a:rPr lang="ru-RU" b="1" dirty="0" smtClean="0"/>
              <a:t>решить</a:t>
            </a:r>
            <a:r>
              <a:rPr lang="en-US" b="1" dirty="0" smtClean="0"/>
              <a:t>:</a:t>
            </a:r>
            <a:endParaRPr lang="ru-RU" b="1" dirty="0"/>
          </a:p>
          <a:p>
            <a:r>
              <a:rPr lang="ru-RU" dirty="0"/>
              <a:t>Форум закрывает сразу несколько задач:</a:t>
            </a:r>
          </a:p>
          <a:p>
            <a:r>
              <a:rPr lang="en-US" b="1" dirty="0" smtClean="0"/>
              <a:t>     </a:t>
            </a:r>
            <a:r>
              <a:rPr lang="ru-RU" b="1" dirty="0" smtClean="0"/>
              <a:t>Поиск</a:t>
            </a:r>
            <a:r>
              <a:rPr lang="ru-RU" b="1" dirty="0"/>
              <a:t> решений технических проблем.</a:t>
            </a:r>
            <a:r>
              <a:rPr lang="ru-RU" dirty="0"/>
              <a:t> На форуме разбирают сбои и нюансы работы оборудования и ПО — например, проблемы с SCADA-системами, ПЛК (программируемыми логическими контроллерами), интерфейсами и протоколами связи.</a:t>
            </a:r>
          </a:p>
          <a:p>
            <a:r>
              <a:rPr lang="en-US" b="1" dirty="0" smtClean="0"/>
              <a:t>           </a:t>
            </a:r>
            <a:r>
              <a:rPr lang="ru-RU" b="1" dirty="0" smtClean="0"/>
              <a:t>Обмен</a:t>
            </a:r>
            <a:r>
              <a:rPr lang="ru-RU" b="1" dirty="0"/>
              <a:t> опытом по оборудованию и софту.</a:t>
            </a:r>
            <a:r>
              <a:rPr lang="ru-RU" dirty="0"/>
              <a:t> Обсуждают решения на базе </a:t>
            </a:r>
            <a:r>
              <a:rPr lang="ru-RU" dirty="0" err="1"/>
              <a:t>Siemens</a:t>
            </a:r>
            <a:r>
              <a:rPr lang="ru-RU" dirty="0"/>
              <a:t>, </a:t>
            </a:r>
            <a:r>
              <a:rPr lang="ru-RU" dirty="0" err="1"/>
              <a:t>Beckhoff</a:t>
            </a:r>
            <a:r>
              <a:rPr lang="ru-RU" dirty="0"/>
              <a:t>, ОВЕН, </a:t>
            </a:r>
            <a:r>
              <a:rPr lang="ru-RU" dirty="0" err="1"/>
              <a:t>DeltaV</a:t>
            </a:r>
            <a:r>
              <a:rPr lang="ru-RU" dirty="0"/>
              <a:t>, </a:t>
            </a:r>
            <a:r>
              <a:rPr lang="ru-RU" dirty="0" err="1"/>
              <a:t>Mitsubishi</a:t>
            </a:r>
            <a:r>
              <a:rPr lang="ru-RU" dirty="0"/>
              <a:t> и др., а также работу в средах типа TIA </a:t>
            </a:r>
            <a:r>
              <a:rPr lang="ru-RU" dirty="0" err="1"/>
              <a:t>Portal</a:t>
            </a:r>
            <a:r>
              <a:rPr lang="ru-RU" dirty="0"/>
              <a:t>, EPLAN и т. п.</a:t>
            </a:r>
          </a:p>
          <a:p>
            <a:r>
              <a:rPr lang="ru-RU" b="1" dirty="0"/>
              <a:t>Консультации по проектированию и наладке.</a:t>
            </a:r>
            <a:r>
              <a:rPr lang="ru-RU" dirty="0"/>
              <a:t> Участники помогают с выбором компонентов, </a:t>
            </a:r>
            <a:r>
              <a:rPr lang="ru-RU" dirty="0" err="1"/>
              <a:t>схемотехникой</a:t>
            </a:r>
            <a:r>
              <a:rPr lang="ru-RU" dirty="0"/>
              <a:t>, настройкой алгоритмов управления, вопросами КИП (контрольно-измерительных приборов).</a:t>
            </a:r>
          </a:p>
          <a:p>
            <a:r>
              <a:rPr lang="ru-RU" b="1" dirty="0"/>
              <a:t>Разбор нормативных и проектных вопросов.</a:t>
            </a:r>
            <a:r>
              <a:rPr lang="ru-RU" dirty="0"/>
              <a:t> </a:t>
            </a:r>
            <a:r>
              <a:rPr lang="ru-RU" dirty="0" smtClean="0"/>
              <a:t>  </a:t>
            </a:r>
            <a:r>
              <a:rPr lang="ru-RU" dirty="0"/>
              <a:t>Цели и задачи проекта: Формулировка целей и конкретных задач, которые были поставлены перед началом работы.</a:t>
            </a:r>
          </a:p>
          <a:p>
            <a:endParaRPr lang="ru-RU" b="1" dirty="0"/>
          </a:p>
          <a:p>
            <a:r>
              <a:rPr lang="en-US" dirty="0" smtClean="0"/>
              <a:t>     </a:t>
            </a:r>
            <a:r>
              <a:rPr lang="ru-RU" dirty="0" smtClean="0"/>
              <a:t>Создание Новостного портала АСУТП </a:t>
            </a:r>
            <a:r>
              <a:rPr lang="ru-RU" dirty="0"/>
              <a:t>было направлено на решение ряда задач, связанных с потребностями профессионального сообщества в области АСУ ТП (автоматизированных систем управления технологическими процессами) и промышленной автоматизации</a:t>
            </a:r>
            <a:r>
              <a:rPr lang="ru-RU" dirty="0" smtClean="0"/>
              <a:t>. Что крайне не обходимо в последнее время в связи с санкциями в области АСУТП, которые были запущенны западными странами против России. Многие ведущие мировые бренды такие как </a:t>
            </a:r>
            <a:r>
              <a:rPr lang="en-US" dirty="0" smtClean="0"/>
              <a:t>Siemens, Yokogawa, Honeywell </a:t>
            </a:r>
            <a:r>
              <a:rPr lang="ru-RU" dirty="0" smtClean="0"/>
              <a:t>и другие ушли с Российского рынка, прекратили техническую поддержку хотя оборудование этих брендов продолжает функционировать в Российской промышленности.</a:t>
            </a:r>
            <a:endParaRPr lang="ru-RU" dirty="0"/>
          </a:p>
          <a:p>
            <a:r>
              <a:rPr lang="en-US" b="1" dirty="0" smtClean="0"/>
              <a:t>    </a:t>
            </a:r>
            <a:r>
              <a:rPr lang="ru-RU" b="1" dirty="0" smtClean="0"/>
              <a:t>Возможные </a:t>
            </a:r>
            <a:r>
              <a:rPr lang="ru-RU" b="1" dirty="0"/>
              <a:t>цели проекта:</a:t>
            </a:r>
            <a:endParaRPr lang="ru-RU" dirty="0"/>
          </a:p>
          <a:p>
            <a:r>
              <a:rPr lang="ru-RU" dirty="0"/>
              <a:t>Создание площадки для общения и обмена опытом между специалистами в сфере АСУ ТП, электротехники и промышленной автоматизации.</a:t>
            </a:r>
          </a:p>
          <a:p>
            <a:r>
              <a:rPr lang="ru-RU" dirty="0"/>
              <a:t>Содействие в решении технических проблем и поиске решений в области автоматизации производства.</a:t>
            </a:r>
          </a:p>
          <a:p>
            <a:r>
              <a:rPr lang="ru-RU" dirty="0"/>
              <a:t>Формирование базы знаний по различным аспектам проектирования, наладки, эксплуатации и модернизации систем управления.</a:t>
            </a:r>
          </a:p>
          <a:p>
            <a:r>
              <a:rPr lang="ru-RU" dirty="0"/>
              <a:t>Поддержка профессионального развития инженеров, студентов и начинающих специалистов через обсуждение практических кейсов и доступ к экспертному мнению.</a:t>
            </a:r>
          </a:p>
          <a:p>
            <a:r>
              <a:rPr lang="ru-RU" dirty="0"/>
              <a:t>Создание сообщества, где участники могут обсуждать актуальные вопросы, включая нормативные требования, стандарты, безопасность систем и новые технологии.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294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Постановка задачи / Проблематика 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484784"/>
            <a:ext cx="5904656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786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Анализ предметной области / Аналоги 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2837880"/>
            <a:ext cx="8280919" cy="3308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2066066"/>
            <a:ext cx="8229600" cy="750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Заголовок 1"/>
          <p:cNvSpPr txBox="1">
            <a:spLocks/>
          </p:cNvSpPr>
          <p:nvPr/>
        </p:nvSpPr>
        <p:spPr>
          <a:xfrm>
            <a:off x="395537" y="1340768"/>
            <a:ext cx="7632847" cy="779668"/>
          </a:xfrm>
          <a:prstGeom prst="rect">
            <a:avLst/>
          </a:prstGeom>
        </p:spPr>
        <p:txBody>
          <a:bodyPr rIns="91440" anchor="b">
            <a:normAutofit fontScale="97500"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lvl1pPr marL="54864" algn="r" rtl="0" eaLnBrk="1" latinLnBrk="0" hangingPunct="1">
              <a:spcBef>
                <a:spcPct val="0"/>
              </a:spcBef>
              <a:buNone/>
              <a:defRPr kumimoji="0" sz="4600" kern="12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  <a:effectLst>
                  <a:outerShdw blurRad="38100" dist="25500" dir="5400000" algn="tl" rotWithShape="0">
                    <a:srgbClr val="000000">
                      <a:satMod val="180000"/>
                      <a:alpha val="7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ru-RU" sz="2000" b="1" dirty="0" smtClean="0">
                <a:effectLst/>
              </a:rPr>
              <a:t>За образец был взят существующий Форум АСУТП </a:t>
            </a:r>
            <a:r>
              <a:rPr lang="en-US" sz="2000" b="1" dirty="0">
                <a:effectLst/>
              </a:rPr>
              <a:t>https://asutpforum.ru/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2454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</a:t>
            </a:r>
            <a:r>
              <a:rPr lang="ru-RU" dirty="0" smtClean="0"/>
              <a:t>иблиотеки </a:t>
            </a:r>
            <a:r>
              <a:rPr lang="ru-RU" dirty="0"/>
              <a:t>или компоненты </a:t>
            </a:r>
            <a:r>
              <a:rPr lang="ru-RU" dirty="0" err="1"/>
              <a:t>Django</a:t>
            </a:r>
            <a:r>
              <a:rPr lang="ru-RU" dirty="0"/>
              <a:t> использовались и зачем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4400" b="1" u="sng" dirty="0" smtClean="0"/>
              <a:t>Встроенные компоненты </a:t>
            </a:r>
            <a:r>
              <a:rPr lang="ru-RU" sz="4400" b="1" u="sng" dirty="0" err="1" smtClean="0"/>
              <a:t>Django</a:t>
            </a:r>
            <a:r>
              <a:rPr lang="ru-RU" sz="4400" b="1" u="sng" dirty="0" smtClean="0"/>
              <a:t> (</a:t>
            </a:r>
            <a:r>
              <a:rPr lang="ru-RU" sz="4400" b="1" u="sng" dirty="0" err="1" smtClean="0"/>
              <a:t>Core</a:t>
            </a:r>
            <a:r>
              <a:rPr lang="ru-RU" sz="4400" b="1" u="sng" dirty="0" smtClean="0"/>
              <a:t>)</a:t>
            </a:r>
          </a:p>
          <a:p>
            <a:endParaRPr lang="ru-RU" sz="4400" b="1" u="sng" dirty="0" smtClean="0"/>
          </a:p>
          <a:p>
            <a:pPr marL="0" indent="0">
              <a:buNone/>
            </a:pPr>
            <a:r>
              <a:rPr lang="ru-RU" sz="4400" b="1" dirty="0" err="1" smtClean="0"/>
              <a:t>Django</a:t>
            </a:r>
            <a:r>
              <a:rPr lang="ru-RU" sz="4400" b="1" dirty="0" smtClean="0"/>
              <a:t> </a:t>
            </a:r>
            <a:r>
              <a:rPr lang="ru-RU" sz="4400" b="1" dirty="0" err="1" smtClean="0"/>
              <a:t>Auth</a:t>
            </a:r>
            <a:r>
              <a:rPr lang="ru-RU" sz="4400" b="1" dirty="0" smtClean="0"/>
              <a:t> (</a:t>
            </a:r>
            <a:r>
              <a:rPr lang="ru-RU" sz="4400" b="1" dirty="0" err="1" smtClean="0"/>
              <a:t>django.contrib.auth</a:t>
            </a:r>
            <a:r>
              <a:rPr lang="ru-RU" sz="4400" b="1" dirty="0" smtClean="0"/>
              <a:t>):</a:t>
            </a:r>
          </a:p>
          <a:p>
            <a:pPr marL="0" indent="0">
              <a:buNone/>
            </a:pPr>
            <a:r>
              <a:rPr lang="ru-RU" sz="4400" b="1" dirty="0" smtClean="0"/>
              <a:t>Зачем</a:t>
            </a:r>
            <a:r>
              <a:rPr lang="ru-RU" sz="4400" dirty="0" smtClean="0"/>
              <a:t>: Управление пользователями, сессиями, хеширование паролей и проверка прав доступа (например, разделение на обычных читателей и авторов).</a:t>
            </a:r>
          </a:p>
          <a:p>
            <a:pPr marL="0" indent="0">
              <a:buNone/>
            </a:pPr>
            <a:r>
              <a:rPr lang="ru-RU" sz="4400" b="1" dirty="0" err="1" smtClean="0"/>
              <a:t>Django</a:t>
            </a:r>
            <a:r>
              <a:rPr lang="ru-RU" sz="4400" b="1" dirty="0" smtClean="0"/>
              <a:t> </a:t>
            </a:r>
            <a:r>
              <a:rPr lang="ru-RU" sz="4400" b="1" dirty="0" err="1" smtClean="0"/>
              <a:t>Admin</a:t>
            </a:r>
            <a:r>
              <a:rPr lang="ru-RU" sz="4400" b="1" dirty="0" smtClean="0"/>
              <a:t> (</a:t>
            </a:r>
            <a:r>
              <a:rPr lang="ru-RU" sz="4400" b="1" dirty="0" err="1" smtClean="0"/>
              <a:t>django.contrib.admin</a:t>
            </a:r>
            <a:r>
              <a:rPr lang="ru-RU" sz="4400" b="1" dirty="0" smtClean="0"/>
              <a:t>):</a:t>
            </a:r>
          </a:p>
          <a:p>
            <a:pPr marL="0" indent="0">
              <a:buNone/>
            </a:pPr>
            <a:r>
              <a:rPr lang="ru-RU" sz="4400" b="1" dirty="0" smtClean="0"/>
              <a:t>Зачем</a:t>
            </a:r>
            <a:r>
              <a:rPr lang="ru-RU" sz="4400" dirty="0" smtClean="0"/>
              <a:t>: Готовая панель управления для авторов и редакторов. Позволяет быстро добавлять, редактировать и удалять статьи без написания дополнительного кода.</a:t>
            </a:r>
          </a:p>
          <a:p>
            <a:endParaRPr lang="ru-RU" sz="4400" dirty="0"/>
          </a:p>
          <a:p>
            <a:pPr marL="0" indent="0">
              <a:buNone/>
            </a:pPr>
            <a:r>
              <a:rPr lang="ru-RU" sz="4400" b="1" dirty="0" err="1"/>
              <a:t>Django</a:t>
            </a:r>
            <a:r>
              <a:rPr lang="ru-RU" sz="4400" b="1" dirty="0"/>
              <a:t> ORM</a:t>
            </a:r>
            <a:r>
              <a:rPr lang="ru-RU" sz="4400" dirty="0"/>
              <a:t> — это «переводчик» между миром </a:t>
            </a:r>
            <a:r>
              <a:rPr lang="ru-RU" sz="4400" dirty="0" err="1"/>
              <a:t>Python</a:t>
            </a:r>
            <a:r>
              <a:rPr lang="ru-RU" sz="4400" dirty="0"/>
              <a:t> (объектами) и миром баз данных (таблицами SQL). Благодаря ему вам не нужно писать сложные SQL-запросы вручную</a:t>
            </a:r>
            <a:r>
              <a:rPr lang="ru-RU" sz="4400" dirty="0" smtClean="0"/>
              <a:t>.</a:t>
            </a:r>
          </a:p>
          <a:p>
            <a:pPr marL="0" indent="0">
              <a:buNone/>
            </a:pPr>
            <a:r>
              <a:rPr lang="ru-RU" sz="4400" b="1" dirty="0"/>
              <a:t>Зачем</a:t>
            </a:r>
            <a:r>
              <a:rPr lang="ru-RU" sz="4400" dirty="0"/>
              <a:t>: Взаимодействие с базой данных (</a:t>
            </a:r>
            <a:r>
              <a:rPr lang="ru-RU" sz="4400" dirty="0" err="1"/>
              <a:t>SQLite</a:t>
            </a:r>
            <a:r>
              <a:rPr lang="ru-RU" sz="4400" dirty="0"/>
              <a:t>/</a:t>
            </a:r>
            <a:r>
              <a:rPr lang="ru-RU" sz="4400" dirty="0" err="1"/>
              <a:t>PostgreSQL</a:t>
            </a:r>
            <a:r>
              <a:rPr lang="ru-RU" sz="4400" dirty="0"/>
              <a:t>) на языке </a:t>
            </a:r>
            <a:r>
              <a:rPr lang="ru-RU" sz="4400" dirty="0" err="1"/>
              <a:t>Python</a:t>
            </a:r>
            <a:r>
              <a:rPr lang="ru-RU" sz="4400" dirty="0"/>
              <a:t>. Используется для сложных запросов фильтрации и сортировки статей.</a:t>
            </a:r>
          </a:p>
          <a:p>
            <a:pPr marL="338138" indent="0">
              <a:buNone/>
            </a:pPr>
            <a:endParaRPr lang="ru-RU" sz="4400" dirty="0"/>
          </a:p>
          <a:p>
            <a:pPr marL="625475">
              <a:buNone/>
            </a:pPr>
            <a:r>
              <a:rPr lang="ru-RU" sz="4400" b="1" dirty="0" smtClean="0"/>
              <a:t>1</a:t>
            </a:r>
            <a:r>
              <a:rPr lang="ru-RU" sz="4400" b="1" dirty="0"/>
              <a:t>. Модели вместо таблиц</a:t>
            </a:r>
          </a:p>
          <a:p>
            <a:pPr marL="625475">
              <a:buNone/>
            </a:pPr>
            <a:r>
              <a:rPr lang="ru-RU" sz="4400" dirty="0" smtClean="0"/>
              <a:t>     Вместо </a:t>
            </a:r>
            <a:r>
              <a:rPr lang="ru-RU" sz="4400" dirty="0"/>
              <a:t>того чтобы создавать таблицы в базе через консоль, </a:t>
            </a:r>
            <a:r>
              <a:rPr lang="ru-RU" sz="4400" dirty="0" smtClean="0"/>
              <a:t>мы описываем </a:t>
            </a:r>
            <a:r>
              <a:rPr lang="ru-RU" sz="4400" dirty="0"/>
              <a:t>их в models.py.</a:t>
            </a:r>
          </a:p>
          <a:p>
            <a:pPr marL="625475">
              <a:buNone/>
            </a:pPr>
            <a:r>
              <a:rPr lang="ru-RU" sz="4400" b="1" dirty="0" smtClean="0"/>
              <a:t>     Пример</a:t>
            </a:r>
            <a:r>
              <a:rPr lang="ru-RU" sz="4400" b="1" dirty="0"/>
              <a:t>:</a:t>
            </a:r>
            <a:r>
              <a:rPr lang="ru-RU" sz="4400" dirty="0"/>
              <a:t> </a:t>
            </a:r>
            <a:r>
              <a:rPr lang="ru-RU" sz="4400" dirty="0" smtClean="0"/>
              <a:t>класс</a:t>
            </a:r>
            <a:r>
              <a:rPr lang="ru-RU" sz="4400" dirty="0"/>
              <a:t> </a:t>
            </a:r>
            <a:r>
              <a:rPr lang="ru-RU" sz="4400" dirty="0" err="1"/>
              <a:t>Article</a:t>
            </a:r>
            <a:r>
              <a:rPr lang="ru-RU" sz="4400" dirty="0"/>
              <a:t> — это будущая таблица в БД. Каждое поле (</a:t>
            </a:r>
            <a:r>
              <a:rPr lang="ru-RU" sz="4400" dirty="0" err="1"/>
              <a:t>title</a:t>
            </a:r>
            <a:r>
              <a:rPr lang="ru-RU" sz="4400" dirty="0"/>
              <a:t>, </a:t>
            </a:r>
            <a:r>
              <a:rPr lang="ru-RU" sz="4400" dirty="0" err="1"/>
              <a:t>content</a:t>
            </a:r>
            <a:r>
              <a:rPr lang="ru-RU" sz="4400" dirty="0"/>
              <a:t>) — это колонка в этой таблице</a:t>
            </a:r>
            <a:r>
              <a:rPr lang="ru-RU" sz="4400" dirty="0" smtClean="0"/>
              <a:t>.</a:t>
            </a:r>
          </a:p>
          <a:p>
            <a:pPr marL="625475">
              <a:buNone/>
            </a:pPr>
            <a:endParaRPr lang="ru-RU" sz="4400" dirty="0"/>
          </a:p>
          <a:p>
            <a:pPr marL="625475">
              <a:buNone/>
            </a:pPr>
            <a:r>
              <a:rPr lang="ru-RU" sz="4400" b="1" dirty="0" smtClean="0"/>
              <a:t>2</a:t>
            </a:r>
            <a:r>
              <a:rPr lang="ru-RU" sz="4400" b="1" dirty="0"/>
              <a:t>. </a:t>
            </a:r>
            <a:r>
              <a:rPr lang="ru-RU" sz="4400" b="1" dirty="0" err="1"/>
              <a:t>Python</a:t>
            </a:r>
            <a:r>
              <a:rPr lang="ru-RU" sz="4400" b="1" dirty="0"/>
              <a:t>-синтаксис вместо SQL</a:t>
            </a:r>
          </a:p>
          <a:p>
            <a:pPr marL="625475">
              <a:buNone/>
            </a:pPr>
            <a:r>
              <a:rPr lang="ru-RU" sz="4400" dirty="0" smtClean="0"/>
              <a:t>    ORM </a:t>
            </a:r>
            <a:r>
              <a:rPr lang="ru-RU" sz="4400" dirty="0"/>
              <a:t>позволяет манипулировать данными с помощью обычных методов </a:t>
            </a:r>
            <a:r>
              <a:rPr lang="ru-RU" sz="4400" dirty="0" err="1"/>
              <a:t>Python</a:t>
            </a:r>
            <a:r>
              <a:rPr lang="ru-RU" sz="4400" dirty="0" smtClean="0"/>
              <a:t>.</a:t>
            </a:r>
          </a:p>
          <a:p>
            <a:pPr marL="625475">
              <a:buNone/>
            </a:pPr>
            <a:endParaRPr lang="ru-RU" sz="4400" dirty="0"/>
          </a:p>
          <a:p>
            <a:pPr marL="625475">
              <a:buNone/>
            </a:pPr>
            <a:r>
              <a:rPr lang="ru-RU" sz="4400" b="1" dirty="0" smtClean="0"/>
              <a:t>3</a:t>
            </a:r>
            <a:r>
              <a:rPr lang="ru-RU" sz="4400" b="1" dirty="0"/>
              <a:t>. Работа со связями (</a:t>
            </a:r>
            <a:r>
              <a:rPr lang="ru-RU" sz="4400" b="1" dirty="0" err="1"/>
              <a:t>Relationships</a:t>
            </a:r>
            <a:r>
              <a:rPr lang="ru-RU" sz="4400" b="1" dirty="0"/>
              <a:t>)</a:t>
            </a:r>
          </a:p>
          <a:p>
            <a:pPr marL="625475">
              <a:buNone/>
            </a:pPr>
            <a:r>
              <a:rPr lang="ru-RU" sz="4400" dirty="0" smtClean="0"/>
              <a:t>    Это </a:t>
            </a:r>
            <a:r>
              <a:rPr lang="ru-RU" sz="4400" dirty="0"/>
              <a:t>самая мощная часть ORM. Она связывает разные таблицы между собой:</a:t>
            </a:r>
          </a:p>
          <a:p>
            <a:pPr marL="625475">
              <a:buNone/>
            </a:pPr>
            <a:r>
              <a:rPr lang="ru-RU" sz="4400" b="1" dirty="0" smtClean="0"/>
              <a:t>    </a:t>
            </a:r>
            <a:r>
              <a:rPr lang="ru-RU" sz="4400" b="1" dirty="0" err="1" smtClean="0"/>
              <a:t>ForeignKey</a:t>
            </a:r>
            <a:r>
              <a:rPr lang="ru-RU" sz="4400" dirty="0"/>
              <a:t>: Связывает статью с автором (</a:t>
            </a:r>
            <a:r>
              <a:rPr lang="ru-RU" sz="4400" dirty="0" err="1"/>
              <a:t>User</a:t>
            </a:r>
            <a:r>
              <a:rPr lang="ru-RU" sz="4400" dirty="0"/>
              <a:t>). Вы можете легко получить автора статьи: </a:t>
            </a:r>
            <a:r>
              <a:rPr lang="ru-RU" sz="4400" dirty="0" err="1"/>
              <a:t>article.author.username</a:t>
            </a:r>
            <a:r>
              <a:rPr lang="ru-RU" sz="4400" dirty="0"/>
              <a:t>.</a:t>
            </a:r>
          </a:p>
          <a:p>
            <a:pPr marL="625475">
              <a:buNone/>
            </a:pPr>
            <a:r>
              <a:rPr lang="ru-RU" sz="4400" b="1" dirty="0" smtClean="0"/>
              <a:t>    </a:t>
            </a:r>
            <a:r>
              <a:rPr lang="ru-RU" sz="4400" b="1" dirty="0" err="1" smtClean="0"/>
              <a:t>ManyToManyField</a:t>
            </a:r>
            <a:r>
              <a:rPr lang="ru-RU" sz="4400" dirty="0"/>
              <a:t>: Связывает статью с тегами. Одна статья может иметь много тегов, и один тег может быть у </a:t>
            </a:r>
            <a:r>
              <a:rPr lang="ru-RU" sz="4400" dirty="0" smtClean="0"/>
              <a:t>многих статей</a:t>
            </a:r>
            <a:r>
              <a:rPr lang="ru-RU" sz="4400" dirty="0"/>
              <a:t>.</a:t>
            </a:r>
          </a:p>
          <a:p>
            <a:pPr marL="625475"/>
            <a:endParaRPr lang="ru-RU" sz="4400" dirty="0"/>
          </a:p>
          <a:p>
            <a:pPr marL="625475">
              <a:buNone/>
            </a:pPr>
            <a:r>
              <a:rPr lang="ru-RU" sz="4400" b="1" dirty="0"/>
              <a:t>4. Миграции: Контроль версий </a:t>
            </a:r>
            <a:r>
              <a:rPr lang="ru-RU" sz="4400" b="1" dirty="0" smtClean="0"/>
              <a:t>базы</a:t>
            </a:r>
          </a:p>
          <a:p>
            <a:pPr marL="625475">
              <a:buNone/>
            </a:pPr>
            <a:endParaRPr lang="ru-RU" sz="4400" b="1" dirty="0"/>
          </a:p>
          <a:p>
            <a:pPr marL="625475"/>
            <a:endParaRPr lang="ru-RU" sz="4400" dirty="0" smtClean="0"/>
          </a:p>
          <a:p>
            <a:pPr marL="0" indent="0">
              <a:buNone/>
            </a:pPr>
            <a:r>
              <a:rPr lang="ru-RU" sz="4400" b="1" dirty="0" err="1" smtClean="0"/>
              <a:t>Pagination</a:t>
            </a:r>
            <a:r>
              <a:rPr lang="ru-RU" sz="4400" b="1" dirty="0" smtClean="0"/>
              <a:t> (</a:t>
            </a:r>
            <a:r>
              <a:rPr lang="ru-RU" sz="4400" b="1" dirty="0" err="1" smtClean="0"/>
              <a:t>django.core.paginator</a:t>
            </a:r>
            <a:r>
              <a:rPr lang="ru-RU" sz="4400" b="1" dirty="0" smtClean="0"/>
              <a:t>):</a:t>
            </a:r>
          </a:p>
          <a:p>
            <a:pPr marL="0" indent="0">
              <a:buNone/>
            </a:pPr>
            <a:r>
              <a:rPr lang="ru-RU" sz="4400" b="1" dirty="0" smtClean="0"/>
              <a:t>Зачем</a:t>
            </a:r>
            <a:r>
              <a:rPr lang="ru-RU" sz="4400" dirty="0" smtClean="0"/>
              <a:t>: Разделение длинного списка новостей на страницы , что бы сайт не «тормозил» при наличии сотен статей.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655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Безопасность и защита </a:t>
            </a:r>
            <a:r>
              <a:rPr lang="ru-RU" dirty="0" err="1"/>
              <a:t>бэкенда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Скрытие админ-панели:</a:t>
            </a:r>
            <a:r>
              <a:rPr lang="ru-RU" dirty="0"/>
              <a:t> Полное отключение стандартного пути /</a:t>
            </a:r>
            <a:r>
              <a:rPr lang="ru-RU" dirty="0" err="1"/>
              <a:t>admin</a:t>
            </a:r>
            <a:r>
              <a:rPr lang="ru-RU" dirty="0"/>
              <a:t>/ (404 ошибка для ботов). Доступ перенесен на </a:t>
            </a:r>
            <a:r>
              <a:rPr lang="ru-RU" dirty="0" err="1"/>
              <a:t>кастомный</a:t>
            </a:r>
            <a:r>
              <a:rPr lang="ru-RU" dirty="0"/>
              <a:t> защищенный </a:t>
            </a:r>
            <a:r>
              <a:rPr lang="ru-RU" dirty="0" smtClean="0"/>
              <a:t>URL. Защита входа секретным словом.</a:t>
            </a:r>
            <a:endParaRPr lang="ru-RU" dirty="0"/>
          </a:p>
          <a:p>
            <a:r>
              <a:rPr lang="ru-RU" b="1" dirty="0"/>
              <a:t>Криптография «из коробки»:</a:t>
            </a:r>
            <a:r>
              <a:rPr lang="ru-RU" dirty="0"/>
              <a:t> </a:t>
            </a:r>
            <a:r>
              <a:rPr lang="ru-RU" dirty="0" err="1"/>
              <a:t>Хэширование</a:t>
            </a:r>
            <a:r>
              <a:rPr lang="ru-RU" dirty="0"/>
              <a:t> паролей по стандарту </a:t>
            </a:r>
            <a:r>
              <a:rPr lang="ru-RU" b="1" dirty="0"/>
              <a:t>PBKDF2 + SHA256</a:t>
            </a:r>
            <a:r>
              <a:rPr lang="ru-RU" dirty="0"/>
              <a:t>. В базе данных хранятся только необратимые математические </a:t>
            </a:r>
            <a:r>
              <a:rPr lang="ru-RU" dirty="0" err="1"/>
              <a:t>хэши</a:t>
            </a:r>
            <a:r>
              <a:rPr lang="ru-RU" dirty="0"/>
              <a:t>, а не чистые пароли.</a:t>
            </a:r>
          </a:p>
          <a:p>
            <a:r>
              <a:rPr lang="ru-RU" b="1" dirty="0"/>
              <a:t>Контроль сессий:</a:t>
            </a:r>
            <a:r>
              <a:rPr lang="ru-RU" dirty="0"/>
              <a:t> Защита от CSRF-атак на всех формах и моментальное уничтожение сессии при выходе пользователя из системы.</a:t>
            </a:r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7" y="2981656"/>
            <a:ext cx="3312368" cy="40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468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Кастомная</a:t>
            </a:r>
            <a:r>
              <a:rPr lang="ru-RU" dirty="0"/>
              <a:t> система регистрации (UX/UI &amp; </a:t>
            </a:r>
            <a:r>
              <a:rPr lang="ru-RU" dirty="0" err="1"/>
              <a:t>Валидация</a:t>
            </a:r>
            <a:r>
              <a:rPr lang="ru-RU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Поддержка кириллицы:</a:t>
            </a:r>
            <a:r>
              <a:rPr lang="ru-RU" dirty="0"/>
              <a:t> Реализована форма </a:t>
            </a:r>
            <a:r>
              <a:rPr lang="ru-RU" dirty="0" err="1"/>
              <a:t>CyrillicUserCreationForm</a:t>
            </a:r>
            <a:r>
              <a:rPr lang="ru-RU" dirty="0"/>
              <a:t>, позволяющая пользователям регистрироваться под русскоязычными именами без конфликтов с </a:t>
            </a:r>
            <a:r>
              <a:rPr lang="ru-RU" dirty="0" err="1"/>
              <a:t>бэкендом.</a:t>
            </a:r>
            <a:r>
              <a:rPr lang="ru-RU" b="1" dirty="0" err="1"/>
              <a:t>Многоуровневая</a:t>
            </a:r>
            <a:r>
              <a:rPr lang="ru-RU" b="1" dirty="0"/>
              <a:t> </a:t>
            </a:r>
            <a:r>
              <a:rPr lang="ru-RU" b="1" dirty="0" err="1"/>
              <a:t>валидация</a:t>
            </a:r>
            <a:r>
              <a:rPr lang="ru-RU" b="1" dirty="0"/>
              <a:t>:</a:t>
            </a:r>
            <a:r>
              <a:rPr lang="ru-RU" dirty="0"/>
              <a:t> Комбинация </a:t>
            </a:r>
            <a:r>
              <a:rPr lang="ru-RU" dirty="0" err="1"/>
              <a:t>JavaScript</a:t>
            </a:r>
            <a:r>
              <a:rPr lang="ru-RU" dirty="0"/>
              <a:t> (</a:t>
            </a:r>
            <a:r>
              <a:rPr lang="ru-RU" dirty="0" err="1"/>
              <a:t>фронтенд</a:t>
            </a:r>
            <a:r>
              <a:rPr lang="ru-RU" dirty="0"/>
              <a:t>) и </a:t>
            </a:r>
            <a:r>
              <a:rPr lang="ru-RU" dirty="0" err="1"/>
              <a:t>Django</a:t>
            </a:r>
            <a:r>
              <a:rPr lang="ru-RU" dirty="0"/>
              <a:t> (</a:t>
            </a:r>
            <a:r>
              <a:rPr lang="ru-RU" dirty="0" err="1"/>
              <a:t>бэкенд</a:t>
            </a:r>
            <a:r>
              <a:rPr lang="ru-RU" dirty="0"/>
              <a:t>) для контроля сложности пароля (от 8 символов, заглавные буквы, цифры).</a:t>
            </a:r>
            <a:r>
              <a:rPr lang="ru-RU" b="1" dirty="0"/>
              <a:t>Интеграция с браузером:</a:t>
            </a:r>
            <a:r>
              <a:rPr lang="ru-RU" dirty="0"/>
              <a:t> Использование атрибутов </a:t>
            </a:r>
            <a:r>
              <a:rPr lang="ru-RU" dirty="0" err="1"/>
              <a:t>autocomplete</a:t>
            </a:r>
            <a:r>
              <a:rPr lang="ru-RU" dirty="0"/>
              <a:t> для корректной работы системных менеджеров паролей (</a:t>
            </a:r>
            <a:r>
              <a:rPr lang="ru-RU" dirty="0" err="1"/>
              <a:t>Chrome</a:t>
            </a:r>
            <a:r>
              <a:rPr lang="ru-RU" dirty="0"/>
              <a:t>/Яндекс браузер предлагают сохранение пароля).</a:t>
            </a:r>
          </a:p>
        </p:txBody>
      </p:sp>
    </p:spTree>
    <p:extLst>
      <p:ext uri="{BB962C8B-B14F-4D97-AF65-F5344CB8AC3E}">
        <p14:creationId xmlns:p14="http://schemas.microsoft.com/office/powerpoint/2010/main" val="206889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871208"/>
          </a:xfrm>
        </p:spPr>
        <p:txBody>
          <a:bodyPr>
            <a:normAutofit/>
          </a:bodyPr>
          <a:lstStyle/>
          <a:p>
            <a:r>
              <a:rPr lang="ru-RU" sz="4000" b="1" dirty="0">
                <a:effectLst/>
              </a:rPr>
              <a:t>Тестирование / </a:t>
            </a:r>
            <a:r>
              <a:rPr lang="ru-RU" sz="4000" b="1" dirty="0" err="1">
                <a:effectLst/>
              </a:rPr>
              <a:t>Валидация</a:t>
            </a:r>
            <a:r>
              <a:rPr lang="ru-RU" sz="4000" b="1" dirty="0">
                <a:effectLst/>
              </a:rPr>
              <a:t> 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050" b="1" dirty="0"/>
              <a:t>1. Тест поиска (</a:t>
            </a:r>
            <a:r>
              <a:rPr lang="ru-RU" sz="1050" b="1" dirty="0" err="1"/>
              <a:t>test_search_form</a:t>
            </a:r>
            <a:r>
              <a:rPr lang="ru-RU" sz="1050" b="1" dirty="0"/>
              <a:t>)</a:t>
            </a:r>
          </a:p>
          <a:p>
            <a:r>
              <a:rPr lang="ru-RU" sz="1050" b="1" dirty="0"/>
              <a:t>Что делает:</a:t>
            </a:r>
            <a:r>
              <a:rPr lang="ru-RU" sz="1050" dirty="0"/>
              <a:t> Создает во временной базе данных две статьи (одну про АСУТП, другую про </a:t>
            </a:r>
            <a:r>
              <a:rPr lang="ru-RU" sz="1050" dirty="0" err="1"/>
              <a:t>Python</a:t>
            </a:r>
            <a:r>
              <a:rPr lang="ru-RU" sz="1050" dirty="0"/>
              <a:t>), имитирует ввод слова «АСУТП» в строку поиска и проверяет, что на странице осталась только нужная статья.</a:t>
            </a:r>
          </a:p>
          <a:p>
            <a:r>
              <a:rPr lang="ru-RU" sz="1050" b="1" dirty="0"/>
              <a:t>Какую пользу приносит:</a:t>
            </a:r>
            <a:r>
              <a:rPr lang="ru-RU" sz="1050" dirty="0"/>
              <a:t> Защищает от поломки систему фильтрации данных. Если вы случайно измените логику фильтрации в файле views.py (например, опечатаетесь в строке </a:t>
            </a:r>
            <a:r>
              <a:rPr lang="ru-RU" sz="1050" dirty="0" err="1"/>
              <a:t>Article.objects.filter</a:t>
            </a:r>
            <a:r>
              <a:rPr lang="ru-RU" sz="1050" dirty="0"/>
              <a:t>(</a:t>
            </a:r>
            <a:r>
              <a:rPr lang="ru-RU" sz="1050" dirty="0" err="1"/>
              <a:t>title</a:t>
            </a:r>
            <a:r>
              <a:rPr lang="ru-RU" sz="1050" dirty="0"/>
              <a:t>__</a:t>
            </a:r>
            <a:r>
              <a:rPr lang="ru-RU" sz="1050" dirty="0" err="1"/>
              <a:t>icontains</a:t>
            </a:r>
            <a:r>
              <a:rPr lang="ru-RU" sz="1050" dirty="0"/>
              <a:t>=</a:t>
            </a:r>
            <a:r>
              <a:rPr lang="ru-RU" sz="1050" dirty="0" err="1"/>
              <a:t>query</a:t>
            </a:r>
            <a:r>
              <a:rPr lang="ru-RU" sz="1050" dirty="0"/>
              <a:t>)), тест тут же упадет. Вы сразу узнаете, что поиск сломан, еще до того, как выложите сайт на сервер.</a:t>
            </a:r>
          </a:p>
          <a:p>
            <a:r>
              <a:rPr lang="ru-RU" sz="1050" b="1" dirty="0"/>
              <a:t>2. Тест сортировки (</a:t>
            </a:r>
            <a:r>
              <a:rPr lang="ru-RU" sz="1050" b="1" dirty="0" err="1"/>
              <a:t>test_sorting_by_date</a:t>
            </a:r>
            <a:r>
              <a:rPr lang="ru-RU" sz="1050" b="1" dirty="0"/>
              <a:t>)</a:t>
            </a:r>
          </a:p>
          <a:p>
            <a:r>
              <a:rPr lang="ru-RU" sz="1050" b="1" dirty="0"/>
              <a:t>Что делает:</a:t>
            </a:r>
            <a:r>
              <a:rPr lang="ru-RU" sz="1050" dirty="0"/>
              <a:t> Создает старую статью (5 дней назад) и свежую статью (сегодня), запрашивает страницу с параметром ?</a:t>
            </a:r>
            <a:r>
              <a:rPr lang="ru-RU" sz="1050" dirty="0" err="1"/>
              <a:t>sort</a:t>
            </a:r>
            <a:r>
              <a:rPr lang="ru-RU" sz="1050" dirty="0"/>
              <a:t>=</a:t>
            </a:r>
            <a:r>
              <a:rPr lang="ru-RU" sz="1050" dirty="0" err="1"/>
              <a:t>date</a:t>
            </a:r>
            <a:r>
              <a:rPr lang="ru-RU" sz="1050" dirty="0"/>
              <a:t> и проверяет по HTML-коду, что свежая статья отобразилась выше старой.</a:t>
            </a:r>
          </a:p>
          <a:p>
            <a:r>
              <a:rPr lang="ru-RU" sz="1050" b="1" dirty="0"/>
              <a:t>Какую пользу приносит:</a:t>
            </a:r>
            <a:r>
              <a:rPr lang="ru-RU" sz="1050" dirty="0"/>
              <a:t> Гарантирует правильный порядок подачи информации. Пользователи ожидают видеть актуальные новости первыми. Если из-за изменений в коде или базе данных сортировка перевернется или сломается, тест покажет это, сохранив удобство интерфейса для ваших читателей.</a:t>
            </a:r>
          </a:p>
          <a:p>
            <a:r>
              <a:rPr lang="ru-RU" sz="1050" b="1" dirty="0"/>
              <a:t>3. Тест пустого списка (</a:t>
            </a:r>
            <a:r>
              <a:rPr lang="ru-RU" sz="1050" b="1" dirty="0" err="1"/>
              <a:t>test_page_empty_list</a:t>
            </a:r>
            <a:r>
              <a:rPr lang="ru-RU" sz="1050" b="1" dirty="0"/>
              <a:t>)</a:t>
            </a:r>
          </a:p>
          <a:p>
            <a:r>
              <a:rPr lang="ru-RU" sz="1050" b="1" dirty="0"/>
              <a:t>Что делает:</a:t>
            </a:r>
            <a:r>
              <a:rPr lang="ru-RU" sz="1050" dirty="0"/>
              <a:t> Запрашивает главную страницу, когда в базе данных нет вообще ни одной статьи, и проверяет, что страница успешно открылась (код 200), а блоки карточек статей (</a:t>
            </a:r>
            <a:r>
              <a:rPr lang="ru-RU" sz="1050" dirty="0" err="1"/>
              <a:t>article-card</a:t>
            </a:r>
            <a:r>
              <a:rPr lang="ru-RU" sz="1050" dirty="0"/>
              <a:t>) отсутствуют.</a:t>
            </a:r>
          </a:p>
          <a:p>
            <a:r>
              <a:rPr lang="ru-RU" sz="1050" b="1" dirty="0"/>
              <a:t>Какую пользу приносит:</a:t>
            </a:r>
            <a:r>
              <a:rPr lang="ru-RU" sz="1050" dirty="0"/>
              <a:t> Страхует сайт от «падения» при запуске. Когда проект только разворачивается на новом сервере или когда все статьи удалены, сайт не должен выдавать «Ошибку 500» из-за того, что цикл {% </a:t>
            </a:r>
            <a:r>
              <a:rPr lang="ru-RU" sz="1050" dirty="0" err="1"/>
              <a:t>for</a:t>
            </a:r>
            <a:r>
              <a:rPr lang="ru-RU" sz="1050" dirty="0"/>
              <a:t> %} пытается обработать пустоту. Тест гарантирует, что пустая страница останется аккуратной, сохранит боковую панель, шапку и подвал.</a:t>
            </a:r>
          </a:p>
          <a:p>
            <a:r>
              <a:rPr lang="ru-RU" sz="1050" b="1" dirty="0"/>
              <a:t>4. Тест отображения закладок (</a:t>
            </a:r>
            <a:r>
              <a:rPr lang="ru-RU" sz="1050" b="1" dirty="0" err="1"/>
              <a:t>test_favorites_icons</a:t>
            </a:r>
            <a:r>
              <a:rPr lang="ru-RU" sz="1050" b="1" dirty="0"/>
              <a:t>...)</a:t>
            </a:r>
          </a:p>
          <a:p>
            <a:r>
              <a:rPr lang="ru-RU" sz="1050" b="1" dirty="0"/>
              <a:t>Что делает:</a:t>
            </a:r>
            <a:r>
              <a:rPr lang="ru-RU" sz="1050" dirty="0"/>
              <a:t> Проверяет страницу дважды. Сначала как анонимный гость (убеждается, что иконки закладок скрыты). Затем имитирует авторизацию пользователя и проверяет, что в HTML-коде карточки появилась иконка пустой закладки (</a:t>
            </a:r>
            <a:r>
              <a:rPr lang="ru-RU" sz="1050" dirty="0" err="1"/>
              <a:t>bi-bookmark</a:t>
            </a:r>
            <a:r>
              <a:rPr lang="ru-RU" sz="1050" dirty="0"/>
              <a:t>).</a:t>
            </a:r>
          </a:p>
          <a:p>
            <a:r>
              <a:rPr lang="ru-RU" sz="1050" b="1" dirty="0"/>
              <a:t>Какую пользу приносит:</a:t>
            </a:r>
            <a:r>
              <a:rPr lang="ru-RU" sz="1050" dirty="0"/>
              <a:t> Защищает приватность и безопасность интерфейса. Если анонимный пользователь увидит кнопки избранного, нажатие на них вызовет ошибку, так как у анонима нет личного кабинета. Тест строго следит за тем, чтобы интерфейс подстраивался под статус пользователя и не показывал гостям лишние или нерабочие элементы управления.</a:t>
            </a:r>
          </a:p>
          <a:p>
            <a:r>
              <a:rPr lang="ru-RU" sz="1050" dirty="0" smtClean="0"/>
              <a:t>.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382371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871208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/>
              <a:t>Какая польза от этих тестов в будущем?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57200" y="1484785"/>
            <a:ext cx="8229600" cy="864095"/>
          </a:xfrm>
        </p:spPr>
        <p:txBody>
          <a:bodyPr>
            <a:normAutofit fontScale="25000" lnSpcReduction="20000"/>
          </a:bodyPr>
          <a:lstStyle/>
          <a:p>
            <a:r>
              <a:rPr lang="ru-RU" b="1" dirty="0"/>
              <a:t>Какую пользу приносит:</a:t>
            </a:r>
            <a:r>
              <a:rPr lang="ru-RU" dirty="0"/>
              <a:t> Защищает приватность и безопасность интерфейса. Если анонимный пользователь увидит кнопки избранного, нажатие на них вызовет ошибку, так как у анонима нет личного кабинета. Тест строго следит за тем, чтобы интерфейс подстраивался под статус пользователя и не показывал гостям лишние или нерабочие элементы управления</a:t>
            </a:r>
            <a:r>
              <a:rPr lang="ru-RU" dirty="0" smtClean="0"/>
              <a:t>.</a:t>
            </a:r>
          </a:p>
          <a:p>
            <a:r>
              <a:rPr lang="ru-RU" b="1" dirty="0"/>
              <a:t>Защита от «эффекта домино»:</a:t>
            </a:r>
            <a:r>
              <a:rPr lang="ru-RU" dirty="0"/>
              <a:t> Часто, исправляя код в одном месте (например, в моделях данных), программисты случайно ломают другое место (отображение страниц). Тесты мгновенно это </a:t>
            </a:r>
            <a:r>
              <a:rPr lang="ru-RU" dirty="0" err="1"/>
              <a:t>подсвечивают.</a:t>
            </a:r>
            <a:r>
              <a:rPr lang="ru-RU" b="1" dirty="0" err="1"/>
              <a:t>Смелость</a:t>
            </a:r>
            <a:r>
              <a:rPr lang="ru-RU" b="1" dirty="0"/>
              <a:t> при </a:t>
            </a:r>
            <a:r>
              <a:rPr lang="ru-RU" b="1" dirty="0" err="1"/>
              <a:t>рефакторинге</a:t>
            </a:r>
            <a:r>
              <a:rPr lang="ru-RU" b="1" dirty="0"/>
              <a:t>:</a:t>
            </a:r>
            <a:r>
              <a:rPr lang="ru-RU" dirty="0"/>
              <a:t> Вы можете полностью переписать код в views.py, сделать его быстрее и чище, а затем запустить </a:t>
            </a:r>
            <a:r>
              <a:rPr lang="ru-RU" dirty="0" err="1"/>
              <a:t>pytest</a:t>
            </a:r>
            <a:r>
              <a:rPr lang="ru-RU" dirty="0"/>
              <a:t>. Если загорелось зелёным — вы обновили код и ничего не </a:t>
            </a:r>
            <a:r>
              <a:rPr lang="ru-RU" dirty="0" err="1"/>
              <a:t>сломали.</a:t>
            </a:r>
            <a:r>
              <a:rPr lang="ru-RU" b="1" dirty="0" err="1"/>
              <a:t>Экономия</a:t>
            </a:r>
            <a:r>
              <a:rPr lang="ru-RU" b="1" dirty="0"/>
              <a:t> времени:</a:t>
            </a:r>
            <a:r>
              <a:rPr lang="ru-RU" dirty="0"/>
              <a:t> Ручная проверка этих 4 сценариев в браузере занимает около 2–3 минут (открыть, войти, ввести поиск, проверить, выйти). </a:t>
            </a:r>
            <a:r>
              <a:rPr lang="ru-RU" dirty="0" err="1"/>
              <a:t>pytest</a:t>
            </a:r>
            <a:r>
              <a:rPr lang="ru-RU" dirty="0"/>
              <a:t> сделал это за </a:t>
            </a:r>
            <a:r>
              <a:rPr lang="ru-RU" b="1" dirty="0"/>
              <a:t>2.44 секунды</a:t>
            </a:r>
            <a:r>
              <a:rPr lang="ru-RU" dirty="0"/>
              <a:t>. При росте проекта эта экономия превращается в часы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950" y="4293096"/>
            <a:ext cx="4032448" cy="2381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29" y="2554089"/>
            <a:ext cx="8164290" cy="1704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574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703840"/>
          </a:xfrm>
        </p:spPr>
        <p:txBody>
          <a:bodyPr>
            <a:normAutofit fontScale="90000"/>
          </a:bodyPr>
          <a:lstStyle/>
          <a:p>
            <a:r>
              <a:rPr lang="ru-RU" b="1" u="sng" dirty="0"/>
              <a:t>Инструкция по запуску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504056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900" u="sng" dirty="0"/>
          </a:p>
          <a:p>
            <a:pPr marL="0" indent="0">
              <a:buNone/>
            </a:pPr>
            <a:r>
              <a:rPr lang="ru-RU" sz="1000" dirty="0"/>
              <a:t>Устанавливаем библиотеку </a:t>
            </a:r>
            <a:r>
              <a:rPr lang="ru-RU" sz="1000" b="1" dirty="0" err="1"/>
              <a:t>pip</a:t>
            </a:r>
            <a:r>
              <a:rPr lang="ru-RU" sz="1000" b="1" dirty="0"/>
              <a:t> </a:t>
            </a:r>
            <a:r>
              <a:rPr lang="ru-RU" sz="1000" b="1" dirty="0" err="1"/>
              <a:t>install</a:t>
            </a:r>
            <a:r>
              <a:rPr lang="ru-RU" sz="1000" b="1" dirty="0"/>
              <a:t> </a:t>
            </a:r>
            <a:r>
              <a:rPr lang="ru-RU" sz="1000" b="1" dirty="0" err="1"/>
              <a:t>Pillow</a:t>
            </a:r>
            <a:endParaRPr lang="ru-RU" sz="1000" b="1" dirty="0"/>
          </a:p>
          <a:p>
            <a:endParaRPr lang="ru-RU" sz="1000" dirty="0"/>
          </a:p>
          <a:p>
            <a:pPr marL="0" indent="0">
              <a:buNone/>
            </a:pPr>
            <a:r>
              <a:rPr lang="ru-RU" sz="1000" u="sng" dirty="0" err="1" smtClean="0"/>
              <a:t>Pillow</a:t>
            </a:r>
            <a:r>
              <a:rPr lang="ru-RU" sz="1000" u="sng" dirty="0" smtClean="0"/>
              <a:t> </a:t>
            </a:r>
            <a:r>
              <a:rPr lang="ru-RU" sz="1000" u="sng" dirty="0"/>
              <a:t>играет  </a:t>
            </a:r>
            <a:r>
              <a:rPr lang="ru-RU" sz="1000" u="sng" dirty="0" smtClean="0"/>
              <a:t>роль в  </a:t>
            </a:r>
            <a:r>
              <a:rPr lang="ru-RU" sz="1000" u="sng" dirty="0"/>
              <a:t>коде:</a:t>
            </a:r>
          </a:p>
          <a:p>
            <a:pPr marL="0" indent="0">
              <a:buNone/>
            </a:pPr>
            <a:r>
              <a:rPr lang="ru-RU" sz="1000" dirty="0"/>
              <a:t>1. </a:t>
            </a:r>
            <a:r>
              <a:rPr lang="ru-RU" sz="1000" dirty="0" err="1"/>
              <a:t>Валидация</a:t>
            </a:r>
            <a:r>
              <a:rPr lang="ru-RU" sz="1000" dirty="0"/>
              <a:t> данных (Проверка)</a:t>
            </a:r>
          </a:p>
          <a:p>
            <a:pPr marL="0" indent="0">
              <a:buNone/>
            </a:pPr>
            <a:r>
              <a:rPr lang="ru-RU" sz="1000" dirty="0" smtClean="0"/>
              <a:t>Библиотека </a:t>
            </a:r>
            <a:r>
              <a:rPr lang="ru-RU" sz="1000" dirty="0"/>
              <a:t>проверяет:</a:t>
            </a:r>
          </a:p>
          <a:p>
            <a:pPr marL="0" indent="0">
              <a:buNone/>
            </a:pPr>
            <a:r>
              <a:rPr lang="ru-RU" sz="1000" dirty="0"/>
              <a:t>Является ли загруженный файл настоящим изображением, а не текстовым файлом с расширением .</a:t>
            </a:r>
            <a:r>
              <a:rPr lang="ru-RU" sz="1000" dirty="0" err="1"/>
              <a:t>jpg</a:t>
            </a:r>
            <a:r>
              <a:rPr lang="ru-RU" sz="1000" dirty="0"/>
              <a:t>.</a:t>
            </a:r>
          </a:p>
          <a:p>
            <a:pPr marL="0" indent="0">
              <a:buNone/>
            </a:pPr>
            <a:r>
              <a:rPr lang="ru-RU" sz="1000" dirty="0"/>
              <a:t>Не поврежден ли файл.</a:t>
            </a:r>
          </a:p>
          <a:p>
            <a:pPr marL="0" indent="0">
              <a:buNone/>
            </a:pPr>
            <a:r>
              <a:rPr lang="ru-RU" sz="1000" dirty="0"/>
              <a:t>Каковы его размеры (ширина и высота).</a:t>
            </a:r>
          </a:p>
          <a:p>
            <a:pPr marL="0" indent="0">
              <a:buNone/>
            </a:pPr>
            <a:r>
              <a:rPr lang="ru-RU" sz="1000" dirty="0"/>
              <a:t>2. Чтение метаданных</a:t>
            </a:r>
          </a:p>
          <a:p>
            <a:pPr marL="0" indent="0">
              <a:buNone/>
            </a:pPr>
            <a:r>
              <a:rPr lang="ru-RU" sz="1000" dirty="0" err="1"/>
              <a:t>Pillow</a:t>
            </a:r>
            <a:r>
              <a:rPr lang="ru-RU" sz="1000" dirty="0"/>
              <a:t> позволяет </a:t>
            </a:r>
            <a:r>
              <a:rPr lang="ru-RU" sz="1000" dirty="0" err="1"/>
              <a:t>Django</a:t>
            </a:r>
            <a:r>
              <a:rPr lang="ru-RU" sz="1000" dirty="0"/>
              <a:t> извлекать информацию о картинке. Например, если вы захотите выводить на сайте разрешение фото или дату съемки из EXIF-данных, </a:t>
            </a:r>
            <a:r>
              <a:rPr lang="ru-RU" sz="1000" dirty="0" err="1"/>
              <a:t>Pillow</a:t>
            </a:r>
            <a:r>
              <a:rPr lang="ru-RU" sz="1000" dirty="0"/>
              <a:t> сделает это за вас</a:t>
            </a:r>
            <a:r>
              <a:rPr lang="ru-RU" sz="1000" dirty="0" smtClean="0"/>
              <a:t>.</a:t>
            </a:r>
          </a:p>
          <a:p>
            <a:pPr marL="0" indent="0">
              <a:buNone/>
            </a:pPr>
            <a:r>
              <a:rPr lang="ru-RU" sz="1000" b="1" dirty="0"/>
              <a:t>Запуск:</a:t>
            </a:r>
            <a:endParaRPr lang="ru-RU" sz="1000" dirty="0"/>
          </a:p>
          <a:p>
            <a:pPr marL="0" indent="0">
              <a:buNone/>
            </a:pPr>
            <a:r>
              <a:rPr lang="ru-RU" sz="1000" b="1" dirty="0" err="1"/>
              <a:t>python</a:t>
            </a:r>
            <a:r>
              <a:rPr lang="ru-RU" sz="1000" b="1" dirty="0"/>
              <a:t> manage.py </a:t>
            </a:r>
            <a:r>
              <a:rPr lang="ru-RU" sz="1000" b="1" dirty="0" err="1"/>
              <a:t>makemigrations</a:t>
            </a:r>
            <a:endParaRPr lang="ru-RU" sz="1000" b="1" dirty="0"/>
          </a:p>
          <a:p>
            <a:pPr marL="0" indent="0">
              <a:buNone/>
            </a:pPr>
            <a:r>
              <a:rPr lang="ru-RU" sz="1000" b="1" dirty="0" err="1"/>
              <a:t>python</a:t>
            </a:r>
            <a:r>
              <a:rPr lang="ru-RU" sz="1000" b="1" dirty="0"/>
              <a:t> manage.py </a:t>
            </a:r>
            <a:r>
              <a:rPr lang="ru-RU" sz="1000" b="1" dirty="0" err="1"/>
              <a:t>migrate</a:t>
            </a:r>
            <a:endParaRPr lang="ru-RU" sz="1000" b="1" dirty="0"/>
          </a:p>
          <a:p>
            <a:pPr marL="0" indent="0">
              <a:buNone/>
            </a:pPr>
            <a:endParaRPr lang="ru-RU" sz="1000" dirty="0"/>
          </a:p>
          <a:p>
            <a:endParaRPr lang="ru-RU" sz="1000" dirty="0"/>
          </a:p>
          <a:p>
            <a:pPr marL="0" indent="0">
              <a:buNone/>
            </a:pPr>
            <a:r>
              <a:rPr lang="ru-RU" sz="1000" u="sng" dirty="0" smtClean="0"/>
              <a:t>Роль </a:t>
            </a:r>
            <a:r>
              <a:rPr lang="ru-RU" sz="1000" u="sng" dirty="0" err="1"/>
              <a:t>makemigrations</a:t>
            </a:r>
            <a:r>
              <a:rPr lang="ru-RU" sz="1000" u="sng" dirty="0"/>
              <a:t> и  </a:t>
            </a:r>
            <a:r>
              <a:rPr lang="ru-RU" sz="1000" u="sng" dirty="0" err="1"/>
              <a:t>migrate</a:t>
            </a:r>
            <a:r>
              <a:rPr lang="ru-RU" sz="1000" u="sng" dirty="0"/>
              <a:t> </a:t>
            </a:r>
            <a:r>
              <a:rPr lang="ru-RU" sz="1000" dirty="0"/>
              <a:t>— синхронизировать то, что мы написали в коде (models.py), с тем, что реально хранится в файле базы данных (db.sqlite3).</a:t>
            </a:r>
          </a:p>
          <a:p>
            <a:pPr marL="0" indent="0">
              <a:buNone/>
            </a:pPr>
            <a:r>
              <a:rPr lang="ru-RU" sz="1000" dirty="0"/>
              <a:t>1. </a:t>
            </a:r>
            <a:r>
              <a:rPr lang="ru-RU" sz="1000" dirty="0" err="1"/>
              <a:t>python</a:t>
            </a:r>
            <a:r>
              <a:rPr lang="ru-RU" sz="1000" dirty="0"/>
              <a:t> manage.py </a:t>
            </a:r>
            <a:r>
              <a:rPr lang="ru-RU" sz="1000" dirty="0" err="1"/>
              <a:t>makemigrations</a:t>
            </a:r>
            <a:endParaRPr lang="ru-RU" sz="1000" dirty="0"/>
          </a:p>
          <a:p>
            <a:pPr marL="0" indent="0">
              <a:buNone/>
            </a:pPr>
            <a:r>
              <a:rPr lang="ru-RU" sz="1000" dirty="0"/>
              <a:t>Роль: Создание «инструкции» по обновлению.</a:t>
            </a:r>
          </a:p>
          <a:p>
            <a:pPr marL="0" indent="0">
              <a:buNone/>
            </a:pPr>
            <a:r>
              <a:rPr lang="ru-RU" sz="1000" dirty="0"/>
              <a:t>Что делает: </a:t>
            </a:r>
            <a:r>
              <a:rPr lang="ru-RU" sz="1000" dirty="0" err="1"/>
              <a:t>Django</a:t>
            </a:r>
            <a:r>
              <a:rPr lang="ru-RU" sz="1000" dirty="0"/>
              <a:t> сканирует ваши модели и ищет изменения (например, вы добавили поле </a:t>
            </a:r>
            <a:r>
              <a:rPr lang="ru-RU" sz="1000" dirty="0" err="1"/>
              <a:t>image</a:t>
            </a:r>
            <a:r>
              <a:rPr lang="ru-RU" sz="1000" dirty="0"/>
              <a:t> или изменили </a:t>
            </a:r>
            <a:r>
              <a:rPr lang="ru-RU" sz="1000" dirty="0" err="1"/>
              <a:t>max_length</a:t>
            </a:r>
            <a:r>
              <a:rPr lang="ru-RU" sz="1000" dirty="0"/>
              <a:t>).</a:t>
            </a:r>
          </a:p>
          <a:p>
            <a:pPr marL="0" indent="0">
              <a:buNone/>
            </a:pPr>
            <a:r>
              <a:rPr lang="ru-RU" sz="1000" dirty="0"/>
              <a:t>Результат: В папке </a:t>
            </a:r>
            <a:r>
              <a:rPr lang="ru-RU" sz="1000" dirty="0" err="1"/>
              <a:t>migrations</a:t>
            </a:r>
            <a:r>
              <a:rPr lang="ru-RU" sz="1000" dirty="0"/>
              <a:t> внутри вашего приложения появляется новый файл (например, 0002_article_image.py).</a:t>
            </a:r>
          </a:p>
          <a:p>
            <a:pPr marL="0" indent="0">
              <a:buNone/>
            </a:pPr>
            <a:r>
              <a:rPr lang="ru-RU" sz="1000" dirty="0"/>
              <a:t>Простыми словами: Это как чертеж или список покупок, который говорит базе: «Скоро нам нужно будет добавить новый столбец». На этом этапе в самой базе еще ничего не меняется.</a:t>
            </a:r>
          </a:p>
          <a:p>
            <a:pPr marL="0" indent="0">
              <a:buNone/>
            </a:pPr>
            <a:r>
              <a:rPr lang="ru-RU" sz="1000" dirty="0"/>
              <a:t>2. </a:t>
            </a:r>
            <a:r>
              <a:rPr lang="ru-RU" sz="1000" dirty="0" err="1"/>
              <a:t>python</a:t>
            </a:r>
            <a:r>
              <a:rPr lang="ru-RU" sz="1000" dirty="0"/>
              <a:t> manage.py </a:t>
            </a:r>
            <a:r>
              <a:rPr lang="ru-RU" sz="1000" dirty="0" err="1"/>
              <a:t>migrate</a:t>
            </a:r>
            <a:endParaRPr lang="ru-RU" sz="1000" dirty="0"/>
          </a:p>
          <a:p>
            <a:pPr marL="0" indent="0">
              <a:buNone/>
            </a:pPr>
            <a:r>
              <a:rPr lang="ru-RU" sz="1000" dirty="0"/>
              <a:t>Роль: Выполнение «инструкции».</a:t>
            </a:r>
          </a:p>
          <a:p>
            <a:pPr marL="0" indent="0">
              <a:buNone/>
            </a:pPr>
            <a:r>
              <a:rPr lang="ru-RU" sz="1000" dirty="0"/>
              <a:t>Что делает: </a:t>
            </a:r>
            <a:r>
              <a:rPr lang="ru-RU" sz="1000" dirty="0" err="1"/>
              <a:t>Django</a:t>
            </a:r>
            <a:r>
              <a:rPr lang="ru-RU" sz="1000" dirty="0"/>
              <a:t> берет файлы из папки </a:t>
            </a:r>
            <a:r>
              <a:rPr lang="ru-RU" sz="1000" dirty="0" err="1"/>
              <a:t>migrations</a:t>
            </a:r>
            <a:r>
              <a:rPr lang="ru-RU" sz="1000" dirty="0"/>
              <a:t>, которые еще не были применены, и превращает их в реальные SQL-запросы к базе данных.</a:t>
            </a:r>
          </a:p>
          <a:p>
            <a:pPr marL="0" indent="0">
              <a:buNone/>
            </a:pPr>
            <a:r>
              <a:rPr lang="ru-RU" sz="1000" dirty="0"/>
              <a:t>Результат: В таблице </a:t>
            </a:r>
            <a:r>
              <a:rPr lang="ru-RU" sz="1000" dirty="0" err="1"/>
              <a:t>articles_article</a:t>
            </a:r>
            <a:r>
              <a:rPr lang="ru-RU" sz="1000" dirty="0"/>
              <a:t> физически появляется колонка </a:t>
            </a:r>
            <a:r>
              <a:rPr lang="ru-RU" sz="1000" dirty="0" err="1"/>
              <a:t>image</a:t>
            </a:r>
            <a:r>
              <a:rPr lang="ru-RU" sz="1000" dirty="0"/>
              <a:t>. </a:t>
            </a:r>
            <a:endParaRPr lang="ru-RU" sz="1000" dirty="0" smtClean="0"/>
          </a:p>
          <a:p>
            <a:pPr marL="0" indent="0">
              <a:buNone/>
            </a:pPr>
            <a:r>
              <a:rPr lang="ru-RU" sz="1000" dirty="0" smtClean="0"/>
              <a:t>Простыми </a:t>
            </a:r>
            <a:r>
              <a:rPr lang="ru-RU" sz="1000" dirty="0"/>
              <a:t>словами: Это строитель, который берет чертеж из первого шага и реально перестраивает стену (базу данных</a:t>
            </a:r>
            <a:r>
              <a:rPr lang="ru-RU" sz="1000" dirty="0" smtClean="0"/>
              <a:t>).</a:t>
            </a:r>
          </a:p>
          <a:p>
            <a:pPr marL="0" indent="0">
              <a:buNone/>
            </a:pPr>
            <a:r>
              <a:rPr lang="ru-RU" sz="1000" b="1" dirty="0" smtClean="0"/>
              <a:t>Запуск: </a:t>
            </a:r>
            <a:r>
              <a:rPr lang="ru-RU" sz="1000" b="1" dirty="0" err="1" smtClean="0"/>
              <a:t>python</a:t>
            </a:r>
            <a:r>
              <a:rPr lang="ru-RU" sz="1000" b="1" dirty="0" smtClean="0"/>
              <a:t> manage.py </a:t>
            </a:r>
            <a:r>
              <a:rPr lang="ru-RU" sz="1000" b="1" dirty="0" err="1" smtClean="0"/>
              <a:t>runserver</a:t>
            </a:r>
            <a:endParaRPr lang="ru-RU" sz="1000" b="1" dirty="0" smtClean="0"/>
          </a:p>
          <a:p>
            <a:pPr marL="0" indent="0">
              <a:buNone/>
            </a:pPr>
            <a:r>
              <a:rPr lang="en-US" sz="1000" dirty="0"/>
              <a:t>http://localhost:8000/</a:t>
            </a:r>
            <a:endParaRPr lang="ru-RU" sz="1000" b="1" dirty="0" smtClean="0"/>
          </a:p>
          <a:p>
            <a:endParaRPr lang="ru-RU" sz="1000" dirty="0"/>
          </a:p>
          <a:p>
            <a:pPr marL="0" indent="0">
              <a:buNone/>
            </a:pPr>
            <a:r>
              <a:rPr lang="ru-RU" sz="1000" dirty="0"/>
              <a:t>Регистрироваться можно прямо с сайта "</a:t>
            </a:r>
            <a:r>
              <a:rPr lang="ru-RU" sz="1000" dirty="0" err="1"/>
              <a:t>article</a:t>
            </a:r>
            <a:r>
              <a:rPr lang="ru-RU" sz="1000" dirty="0"/>
              <a:t>", не через  /</a:t>
            </a:r>
            <a:r>
              <a:rPr lang="ru-RU" sz="1000" dirty="0" err="1" smtClean="0"/>
              <a:t>admin</a:t>
            </a:r>
            <a:r>
              <a:rPr lang="en-US" sz="1000" dirty="0"/>
              <a:t> </a:t>
            </a:r>
            <a:r>
              <a:rPr lang="ru-RU" sz="1000" dirty="0" smtClean="0"/>
              <a:t>или </a:t>
            </a:r>
            <a:r>
              <a:rPr lang="en-US" sz="1000" dirty="0"/>
              <a:t>http://localhost:8000/register/</a:t>
            </a:r>
            <a:endParaRPr lang="ru-RU" sz="1000" dirty="0"/>
          </a:p>
          <a:p>
            <a:pPr marL="0" indent="0">
              <a:buNone/>
            </a:pPr>
            <a:r>
              <a:rPr lang="ru-RU" sz="1000" dirty="0"/>
              <a:t>Статьи добавляются через /</a:t>
            </a:r>
            <a:r>
              <a:rPr lang="ru-RU" sz="1000" dirty="0" err="1"/>
              <a:t>admin</a:t>
            </a:r>
            <a:r>
              <a:rPr lang="ru-RU" sz="1000" dirty="0" smtClean="0"/>
              <a:t>.</a:t>
            </a:r>
          </a:p>
          <a:p>
            <a:r>
              <a:rPr lang="ru-RU" sz="1000" dirty="0"/>
              <a:t>Запуск тестов</a:t>
            </a:r>
            <a:r>
              <a:rPr lang="en-US" sz="1000" dirty="0"/>
              <a:t>: python -m </a:t>
            </a:r>
            <a:r>
              <a:rPr lang="en-US" sz="1000" dirty="0" err="1"/>
              <a:t>pytest</a:t>
            </a:r>
            <a:r>
              <a:rPr lang="en-US" sz="1000" dirty="0"/>
              <a:t> --ds=</a:t>
            </a:r>
            <a:r>
              <a:rPr lang="en-US" sz="1000" dirty="0" err="1"/>
              <a:t>myproject.settings</a:t>
            </a:r>
            <a:r>
              <a:rPr lang="en-US" sz="1000" dirty="0"/>
              <a:t> -v</a:t>
            </a:r>
            <a:endParaRPr lang="ru-RU" sz="1000" dirty="0"/>
          </a:p>
          <a:p>
            <a:endParaRPr lang="ru-RU" sz="1000" dirty="0"/>
          </a:p>
          <a:p>
            <a:pPr marL="0" indent="0">
              <a:buNone/>
            </a:pPr>
            <a:endParaRPr lang="ru-RU" sz="1000" dirty="0" smtClean="0"/>
          </a:p>
          <a:p>
            <a:pPr marL="0" indent="0">
              <a:buNone/>
            </a:pP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135504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Бизнес задача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    </a:t>
            </a:r>
            <a:r>
              <a:rPr lang="ru-RU" i="1" u="sng" dirty="0" smtClean="0"/>
              <a:t>Программа </a:t>
            </a:r>
            <a:r>
              <a:rPr lang="ru-RU" i="1" u="sng" dirty="0"/>
              <a:t>автоматизирует процесс публикации и распространения контента. Она позволяет компании или сообществу:</a:t>
            </a:r>
          </a:p>
          <a:p>
            <a:r>
              <a:rPr lang="ru-RU" dirty="0"/>
              <a:t>Централизованно информировать аудиторию (новости, статьи, анонсы).</a:t>
            </a:r>
          </a:p>
          <a:p>
            <a:r>
              <a:rPr lang="ru-RU" dirty="0"/>
              <a:t>Повышать вовлеченность через систему комментариев и тегов.</a:t>
            </a:r>
          </a:p>
          <a:p>
            <a:r>
              <a:rPr lang="ru-RU" dirty="0"/>
              <a:t>Персонализировать опыт пользователя (возможность сохранять статьи в «Избранное»).</a:t>
            </a:r>
          </a:p>
          <a:p>
            <a:r>
              <a:rPr lang="ru-RU" dirty="0"/>
              <a:t>Разграничивать права: только доверенные лица (админы) создают контент, а пользователи его потребляют и обсуждают.</a:t>
            </a:r>
          </a:p>
        </p:txBody>
      </p:sp>
    </p:spTree>
    <p:extLst>
      <p:ext uri="{BB962C8B-B14F-4D97-AF65-F5344CB8AC3E}">
        <p14:creationId xmlns:p14="http://schemas.microsoft.com/office/powerpoint/2010/main" val="213019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E:\TOP\Pandas\mini-проект\Демонстрация\вход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1811338"/>
            <a:ext cx="7029722" cy="258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48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12" y="1799578"/>
            <a:ext cx="8491559" cy="4482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607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Регистрация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22" y="1556792"/>
            <a:ext cx="8075734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522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Вход в систему для </a:t>
            </a:r>
            <a:r>
              <a:rPr lang="en-US" dirty="0" smtClean="0"/>
              <a:t>admin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8064896" cy="484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391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Вход в систему</a:t>
            </a:r>
            <a:r>
              <a:rPr lang="en-US" dirty="0" smtClean="0"/>
              <a:t> </a:t>
            </a:r>
            <a:r>
              <a:rPr lang="ru-RU" dirty="0" smtClean="0"/>
              <a:t>пользователей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04864"/>
            <a:ext cx="8136904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646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Литейная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420</TotalTime>
  <Words>1277</Words>
  <Application>Microsoft Office PowerPoint</Application>
  <PresentationFormat>Экран (4:3)</PresentationFormat>
  <Paragraphs>127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Литейная</vt:lpstr>
      <vt:lpstr>Блог/новостной портал АСУТП </vt:lpstr>
      <vt:lpstr>Презентация PowerPoint</vt:lpstr>
      <vt:lpstr>Описание проекта</vt:lpstr>
      <vt:lpstr>Постановка задачи / Проблематика </vt:lpstr>
      <vt:lpstr>Постановка задачи / Проблематика </vt:lpstr>
      <vt:lpstr>Анализ предметной области / Аналоги </vt:lpstr>
      <vt:lpstr>Библиотеки или компоненты Django использовались и зачем</vt:lpstr>
      <vt:lpstr>Безопасность и защита бэкенда</vt:lpstr>
      <vt:lpstr>Кастомная система регистрации (UX/UI &amp; Валидация)</vt:lpstr>
      <vt:lpstr>Тестирование / Валидация </vt:lpstr>
      <vt:lpstr>Какая польза от этих тестов в будущем?</vt:lpstr>
      <vt:lpstr>Инструкция по запуску</vt:lpstr>
      <vt:lpstr>Бизнес задача</vt:lpstr>
      <vt:lpstr>Презентация PowerPoint</vt:lpstr>
      <vt:lpstr>Презентация PowerPoint</vt:lpstr>
      <vt:lpstr>Регистрация</vt:lpstr>
      <vt:lpstr>Вход в систему для admin</vt:lpstr>
      <vt:lpstr>Вход в систему пользователей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Новостной портал</dc:title>
  <dc:creator>Lera</dc:creator>
  <cp:lastModifiedBy>Lera</cp:lastModifiedBy>
  <cp:revision>38</cp:revision>
  <dcterms:created xsi:type="dcterms:W3CDTF">2026-03-28T08:39:26Z</dcterms:created>
  <dcterms:modified xsi:type="dcterms:W3CDTF">2026-07-11T07:35:43Z</dcterms:modified>
</cp:coreProperties>
</file>