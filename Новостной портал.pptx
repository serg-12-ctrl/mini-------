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66" r:id="rId3"/>
    <p:sldId id="267" r:id="rId4"/>
    <p:sldId id="264" r:id="rId5"/>
    <p:sldId id="265" r:id="rId6"/>
    <p:sldId id="262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6304"/>
            <a:ext cx="8814816" cy="2505456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64234" y="381001"/>
            <a:ext cx="8229600" cy="2209800"/>
          </a:xfrm>
        </p:spPr>
        <p:txBody>
          <a:bodyPr lIns="45720" rIns="228600" anchor="b">
            <a:normAutofit/>
          </a:bodyPr>
          <a:lstStyle>
            <a:lvl1pPr marL="0" algn="r">
              <a:defRPr sz="480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2133600" y="2819400"/>
            <a:ext cx="6560234" cy="1752600"/>
          </a:xfrm>
        </p:spPr>
        <p:txBody>
          <a:bodyPr lIns="45720" rIns="246888"/>
          <a:lstStyle>
            <a:lvl1pPr marL="0" indent="0" algn="r">
              <a:spcBef>
                <a:spcPts val="0"/>
              </a:spcBef>
              <a:buNone/>
              <a:defRPr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Нижний колонтитул 11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000128" y="3267456"/>
            <a:ext cx="74066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76" y="498230"/>
            <a:ext cx="7772400" cy="2731008"/>
          </a:xfrm>
        </p:spPr>
        <p:txBody>
          <a:bodyPr rIns="100584"/>
          <a:lstStyle>
            <a:lvl1pPr algn="r">
              <a:buNone/>
              <a:defRPr sz="4000" b="1" cap="none">
                <a:solidFill>
                  <a:schemeClr val="accent1">
                    <a:tint val="95000"/>
                    <a:satMod val="200000"/>
                  </a:schemeClr>
                </a:solidFill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287713"/>
            <a:ext cx="7772400" cy="1509712"/>
          </a:xfrm>
        </p:spPr>
        <p:txBody>
          <a:bodyPr rIns="128016" anchor="t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616744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4800600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1948"/>
            <a:ext cx="8229600" cy="1143000"/>
          </a:xfrm>
        </p:spPr>
        <p:txBody>
          <a:bodyPr anchor="b"/>
          <a:lstStyle>
            <a:lvl1pPr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3"/>
            <a:ext cx="4041775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941763"/>
          </a:xfrm>
        </p:spPr>
        <p:txBody>
          <a:bodyPr lIns="9144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9417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218"/>
            <a:ext cx="822960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5057552" y="105765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63136" y="304800"/>
            <a:ext cx="3931920" cy="762000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963136" y="1107560"/>
            <a:ext cx="3931920" cy="1066800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228600" y="2209800"/>
            <a:ext cx="8666456" cy="3977640"/>
          </a:xfrm>
        </p:spPr>
        <p:txBody>
          <a:bodyPr/>
          <a:lstStyle>
            <a:lvl1pPr marL="292608">
              <a:defRPr sz="3200"/>
            </a:lvl1pPr>
            <a:lvl2pPr marL="594360">
              <a:defRPr sz="2800"/>
            </a:lvl2pPr>
            <a:lvl3pPr marL="822960">
              <a:defRPr sz="2400"/>
            </a:lvl3pPr>
            <a:lvl4pPr marL="1051560">
              <a:defRPr sz="2000"/>
            </a:lvl4pPr>
            <a:lvl5pPr marL="1261872"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9" name="Дата 8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Нижний колонтитул 10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0443" y="4724400"/>
            <a:ext cx="5486400" cy="664536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40443" y="5388936"/>
            <a:ext cx="5486400" cy="912255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13" name="Рисунок 12"/>
          <p:cNvSpPr>
            <a:spLocks noGrp="1"/>
          </p:cNvSpPr>
          <p:nvPr>
            <p:ph type="pic" idx="1"/>
          </p:nvPr>
        </p:nvSpPr>
        <p:spPr>
          <a:xfrm>
            <a:off x="304800" y="249864"/>
            <a:ext cx="8534400" cy="4343400"/>
          </a:xfrm>
          <a:prstGeom prst="round2DiagRect">
            <a:avLst>
              <a:gd name="adj1" fmla="val 11403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  <a:extLst/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7085"/>
            <a:ext cx="8810846" cy="6565392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1295400" y="6400800"/>
            <a:ext cx="4212264" cy="274320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endParaRPr lang="ru-RU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5562600" y="6400800"/>
            <a:ext cx="3002280" cy="274320"/>
          </a:xfrm>
          <a:prstGeom prst="rect">
            <a:avLst/>
          </a:prstGeom>
        </p:spPr>
        <p:txBody>
          <a:bodyPr/>
          <a:lstStyle>
            <a:lvl1pPr algn="l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fld id="{0272CB1F-7F4B-480E-AFAD-C1D399D39E5F}" type="datetimeFigureOut">
              <a:rPr lang="ru-RU" smtClean="0"/>
              <a:t>29.03.2026</a:t>
            </a:fld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638952" y="6514568"/>
            <a:ext cx="464288" cy="274320"/>
          </a:xfrm>
          <a:prstGeom prst="rect">
            <a:avLst/>
          </a:prstGeom>
        </p:spPr>
        <p:txBody>
          <a:bodyPr anchor="ctr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  <a:effectLst/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1143000"/>
          </a:xfrm>
          <a:prstGeom prst="rect">
            <a:avLst/>
          </a:prstGeom>
        </p:spPr>
        <p:txBody>
          <a:bodyPr rIns="91440" anchor="b">
            <a:normAutofit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46237"/>
            <a:ext cx="8229600" cy="452628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marL="54864" algn="r" rtl="0" eaLnBrk="1" latinLnBrk="0" hangingPunct="1">
        <a:spcBef>
          <a:spcPct val="0"/>
        </a:spcBef>
        <a:buNone/>
        <a:defRPr kumimoji="0" sz="4600" kern="1200">
          <a:solidFill>
            <a:schemeClr val="tx2">
              <a:tint val="100000"/>
              <a:shade val="90000"/>
              <a:satMod val="250000"/>
              <a:alpha val="100000"/>
            </a:schemeClr>
          </a:solidFill>
          <a:effectLst>
            <a:outerShdw blurRad="38100" dist="25500" dir="5400000" algn="tl" rotWithShape="0">
              <a:srgbClr val="000000">
                <a:satMod val="180000"/>
                <a:alpha val="7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92100" indent="-292100" algn="l" rtl="0" eaLnBrk="1" latinLnBrk="0" hangingPunct="1">
        <a:spcBef>
          <a:spcPts val="0"/>
        </a:spcBef>
        <a:buClr>
          <a:schemeClr val="accent1"/>
        </a:buClr>
        <a:buSzPct val="70000"/>
        <a:buFont typeface="Wingdings 2"/>
        <a:buChar char="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rtl="0" eaLnBrk="1" latinLnBrk="0" hangingPunct="1">
        <a:spcBef>
          <a:spcPts val="400"/>
        </a:spcBef>
        <a:buClr>
          <a:schemeClr val="accent2"/>
        </a:buClr>
        <a:buSzPct val="90000"/>
        <a:buFontTx/>
        <a:buChar char="•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92024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/>
            <a:r>
              <a:rPr lang="ru-RU" b="1" dirty="0"/>
              <a:t>Блог/новостной портал с </a:t>
            </a:r>
            <a:r>
              <a:rPr lang="ru-RU" b="1" dirty="0" smtClean="0"/>
              <a:t>авторизацией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Пользователи могут регистрироваться, читать статьи, оставлять комментарии</a:t>
            </a:r>
          </a:p>
        </p:txBody>
      </p:sp>
    </p:spTree>
    <p:extLst>
      <p:ext uri="{BB962C8B-B14F-4D97-AF65-F5344CB8AC3E}">
        <p14:creationId xmlns:p14="http://schemas.microsoft.com/office/powerpoint/2010/main" val="67372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476672"/>
            <a:ext cx="8157914" cy="59046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60294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</a:t>
            </a:r>
            <a:r>
              <a:rPr lang="ru-RU" dirty="0" smtClean="0"/>
              <a:t>писание </a:t>
            </a:r>
            <a:r>
              <a:rPr lang="ru-RU" dirty="0"/>
              <a:t>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Этот </a:t>
            </a:r>
            <a:r>
              <a:rPr lang="ru-RU" dirty="0"/>
              <a:t>проект представляет собой функциональный веб-сервис для публикации контента и социального взаимодействия, построенный на базе </a:t>
            </a:r>
            <a:r>
              <a:rPr lang="ru-RU" dirty="0" err="1"/>
              <a:t>фреймворка</a:t>
            </a:r>
            <a:r>
              <a:rPr lang="ru-RU" dirty="0"/>
              <a:t> </a:t>
            </a:r>
            <a:r>
              <a:rPr lang="ru-RU" dirty="0" err="1"/>
              <a:t>Django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5846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</a:t>
            </a:r>
            <a:r>
              <a:rPr lang="ru-RU" dirty="0" smtClean="0"/>
              <a:t>иблиотеки </a:t>
            </a:r>
            <a:r>
              <a:rPr lang="ru-RU" dirty="0"/>
              <a:t>или компоненты </a:t>
            </a:r>
            <a:r>
              <a:rPr lang="ru-RU" dirty="0" err="1"/>
              <a:t>Django</a:t>
            </a:r>
            <a:r>
              <a:rPr lang="ru-RU" dirty="0"/>
              <a:t> использовались и зачем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ru-RU" sz="4400" b="1" u="sng" dirty="0" smtClean="0"/>
              <a:t>Встроенные компоненты </a:t>
            </a:r>
            <a:r>
              <a:rPr lang="ru-RU" sz="4400" b="1" u="sng" dirty="0" err="1" smtClean="0"/>
              <a:t>Django</a:t>
            </a:r>
            <a:r>
              <a:rPr lang="ru-RU" sz="4400" b="1" u="sng" dirty="0" smtClean="0"/>
              <a:t> (</a:t>
            </a:r>
            <a:r>
              <a:rPr lang="ru-RU" sz="4400" b="1" u="sng" dirty="0" err="1" smtClean="0"/>
              <a:t>Core</a:t>
            </a:r>
            <a:r>
              <a:rPr lang="ru-RU" sz="4400" b="1" u="sng" dirty="0" smtClean="0"/>
              <a:t>)</a:t>
            </a:r>
          </a:p>
          <a:p>
            <a:endParaRPr lang="ru-RU" sz="4400" b="1" u="sng" dirty="0" smtClean="0"/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Auth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django.contrib.auth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Управление пользователями, сессиями, хеширование паролей и проверка прав доступа (например, разделение на обычных читателей и авторов).</a:t>
            </a:r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Admin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django.contrib.admin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Готовая панель управления для авторов и редакторов. Позволяет быстро добавлять, редактировать и удалять статьи без написания дополнительного кода.</a:t>
            </a:r>
          </a:p>
          <a:p>
            <a:endParaRPr lang="ru-RU" sz="4400" dirty="0"/>
          </a:p>
          <a:p>
            <a:pPr marL="0" indent="0">
              <a:buNone/>
            </a:pPr>
            <a:r>
              <a:rPr lang="ru-RU" sz="4400" b="1" dirty="0" err="1"/>
              <a:t>Django</a:t>
            </a:r>
            <a:r>
              <a:rPr lang="ru-RU" sz="4400" b="1" dirty="0"/>
              <a:t> ORM</a:t>
            </a:r>
            <a:r>
              <a:rPr lang="ru-RU" sz="4400" dirty="0"/>
              <a:t> — это «переводчик» между миром </a:t>
            </a:r>
            <a:r>
              <a:rPr lang="ru-RU" sz="4400" dirty="0" err="1"/>
              <a:t>Python</a:t>
            </a:r>
            <a:r>
              <a:rPr lang="ru-RU" sz="4400" dirty="0"/>
              <a:t> (объектами) и миром баз данных (таблицами SQL). Благодаря ему вам не нужно писать сложные SQL-запросы вручную</a:t>
            </a:r>
            <a:r>
              <a:rPr lang="ru-RU" sz="4400" dirty="0" smtClean="0"/>
              <a:t>.</a:t>
            </a:r>
          </a:p>
          <a:p>
            <a:pPr marL="0" indent="0">
              <a:buNone/>
            </a:pPr>
            <a:r>
              <a:rPr lang="ru-RU" sz="4400" b="1" dirty="0"/>
              <a:t>Зачем</a:t>
            </a:r>
            <a:r>
              <a:rPr lang="ru-RU" sz="4400" dirty="0"/>
              <a:t>: Взаимодействие с базой данных (</a:t>
            </a:r>
            <a:r>
              <a:rPr lang="ru-RU" sz="4400" dirty="0" err="1"/>
              <a:t>SQLite</a:t>
            </a:r>
            <a:r>
              <a:rPr lang="ru-RU" sz="4400" dirty="0"/>
              <a:t>/</a:t>
            </a:r>
            <a:r>
              <a:rPr lang="ru-RU" sz="4400" dirty="0" err="1"/>
              <a:t>PostgreSQL</a:t>
            </a:r>
            <a:r>
              <a:rPr lang="ru-RU" sz="4400" dirty="0"/>
              <a:t>) на языке </a:t>
            </a:r>
            <a:r>
              <a:rPr lang="ru-RU" sz="4400" dirty="0" err="1"/>
              <a:t>Python</a:t>
            </a:r>
            <a:r>
              <a:rPr lang="ru-RU" sz="4400" dirty="0"/>
              <a:t>. Используется для сложных запросов фильтрации и сортировки статей.</a:t>
            </a:r>
          </a:p>
          <a:p>
            <a:pPr marL="338138" indent="0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1</a:t>
            </a:r>
            <a:r>
              <a:rPr lang="ru-RU" sz="4400" b="1" dirty="0"/>
              <a:t>. Модели вместо таблиц</a:t>
            </a:r>
          </a:p>
          <a:p>
            <a:pPr marL="625475">
              <a:buNone/>
            </a:pPr>
            <a:r>
              <a:rPr lang="ru-RU" sz="4400" dirty="0" smtClean="0"/>
              <a:t>     Вместо </a:t>
            </a:r>
            <a:r>
              <a:rPr lang="ru-RU" sz="4400" dirty="0"/>
              <a:t>того чтобы создавать таблицы в базе через консоль, </a:t>
            </a:r>
            <a:r>
              <a:rPr lang="ru-RU" sz="4400" dirty="0" smtClean="0"/>
              <a:t>мы описываем </a:t>
            </a:r>
            <a:r>
              <a:rPr lang="ru-RU" sz="4400" dirty="0"/>
              <a:t>их в models.py.</a:t>
            </a:r>
          </a:p>
          <a:p>
            <a:pPr marL="625475">
              <a:buNone/>
            </a:pPr>
            <a:r>
              <a:rPr lang="ru-RU" sz="4400" b="1" dirty="0" smtClean="0"/>
              <a:t>     Пример</a:t>
            </a:r>
            <a:r>
              <a:rPr lang="ru-RU" sz="4400" b="1" dirty="0"/>
              <a:t>:</a:t>
            </a:r>
            <a:r>
              <a:rPr lang="ru-RU" sz="4400" dirty="0"/>
              <a:t> </a:t>
            </a:r>
            <a:r>
              <a:rPr lang="ru-RU" sz="4400" dirty="0" smtClean="0"/>
              <a:t>класс</a:t>
            </a:r>
            <a:r>
              <a:rPr lang="ru-RU" sz="4400" dirty="0"/>
              <a:t> </a:t>
            </a:r>
            <a:r>
              <a:rPr lang="ru-RU" sz="4400" dirty="0" err="1"/>
              <a:t>Article</a:t>
            </a:r>
            <a:r>
              <a:rPr lang="ru-RU" sz="4400" dirty="0"/>
              <a:t> — это будущая таблица в БД. Каждое поле (</a:t>
            </a:r>
            <a:r>
              <a:rPr lang="ru-RU" sz="4400" dirty="0" err="1"/>
              <a:t>title</a:t>
            </a:r>
            <a:r>
              <a:rPr lang="ru-RU" sz="4400" dirty="0"/>
              <a:t>, </a:t>
            </a:r>
            <a:r>
              <a:rPr lang="ru-RU" sz="4400" dirty="0" err="1"/>
              <a:t>content</a:t>
            </a:r>
            <a:r>
              <a:rPr lang="ru-RU" sz="4400" dirty="0"/>
              <a:t>) — это колонка в этой таблице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2</a:t>
            </a:r>
            <a:r>
              <a:rPr lang="ru-RU" sz="4400" b="1" dirty="0"/>
              <a:t>. </a:t>
            </a:r>
            <a:r>
              <a:rPr lang="ru-RU" sz="4400" b="1" dirty="0" err="1"/>
              <a:t>Python</a:t>
            </a:r>
            <a:r>
              <a:rPr lang="ru-RU" sz="4400" b="1" dirty="0"/>
              <a:t>-синтаксис вместо SQL</a:t>
            </a:r>
          </a:p>
          <a:p>
            <a:pPr marL="625475">
              <a:buNone/>
            </a:pPr>
            <a:r>
              <a:rPr lang="ru-RU" sz="4400" dirty="0" smtClean="0"/>
              <a:t>    ORM </a:t>
            </a:r>
            <a:r>
              <a:rPr lang="ru-RU" sz="4400" dirty="0"/>
              <a:t>позволяет манипулировать данными с помощью обычных методов </a:t>
            </a:r>
            <a:r>
              <a:rPr lang="ru-RU" sz="4400" dirty="0" err="1"/>
              <a:t>Python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3</a:t>
            </a:r>
            <a:r>
              <a:rPr lang="ru-RU" sz="4400" b="1" dirty="0"/>
              <a:t>. Работа со связями (</a:t>
            </a:r>
            <a:r>
              <a:rPr lang="ru-RU" sz="4400" b="1" dirty="0" err="1"/>
              <a:t>Relationships</a:t>
            </a:r>
            <a:r>
              <a:rPr lang="ru-RU" sz="4400" b="1" dirty="0"/>
              <a:t>)</a:t>
            </a:r>
          </a:p>
          <a:p>
            <a:pPr marL="625475">
              <a:buNone/>
            </a:pPr>
            <a:r>
              <a:rPr lang="ru-RU" sz="4400" dirty="0" smtClean="0"/>
              <a:t>    Это </a:t>
            </a:r>
            <a:r>
              <a:rPr lang="ru-RU" sz="4400" dirty="0"/>
              <a:t>самая мощная часть ORM. Она связывает разные таблицы между собой: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ForeignKey</a:t>
            </a:r>
            <a:r>
              <a:rPr lang="ru-RU" sz="4400" dirty="0"/>
              <a:t>: Связывает статью с автором (</a:t>
            </a:r>
            <a:r>
              <a:rPr lang="ru-RU" sz="4400" dirty="0" err="1"/>
              <a:t>User</a:t>
            </a:r>
            <a:r>
              <a:rPr lang="ru-RU" sz="4400" dirty="0"/>
              <a:t>). Вы можете легко получить автора статьи: </a:t>
            </a:r>
            <a:r>
              <a:rPr lang="ru-RU" sz="4400" dirty="0" err="1"/>
              <a:t>article.author.username</a:t>
            </a:r>
            <a:r>
              <a:rPr lang="ru-RU" sz="4400" dirty="0"/>
              <a:t>.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ManyToManyField</a:t>
            </a:r>
            <a:r>
              <a:rPr lang="ru-RU" sz="4400" dirty="0"/>
              <a:t>: Связывает статью с тегами. Одна статья может иметь много тегов, и один тег может быть у </a:t>
            </a:r>
            <a:r>
              <a:rPr lang="ru-RU" sz="4400" dirty="0" smtClean="0"/>
              <a:t>многих статей</a:t>
            </a:r>
            <a:r>
              <a:rPr lang="ru-RU" sz="4400" dirty="0"/>
              <a:t>.</a:t>
            </a:r>
          </a:p>
          <a:p>
            <a:pPr marL="625475"/>
            <a:endParaRPr lang="ru-RU" sz="4400" dirty="0"/>
          </a:p>
          <a:p>
            <a:pPr marL="625475">
              <a:buNone/>
            </a:pPr>
            <a:r>
              <a:rPr lang="ru-RU" sz="4400" b="1" dirty="0"/>
              <a:t>4. Миграции: Контроль версий </a:t>
            </a:r>
            <a:r>
              <a:rPr lang="ru-RU" sz="4400" b="1" dirty="0" smtClean="0"/>
              <a:t>базы</a:t>
            </a:r>
          </a:p>
          <a:p>
            <a:pPr marL="625475">
              <a:buNone/>
            </a:pPr>
            <a:endParaRPr lang="ru-RU" sz="4400" b="1" dirty="0"/>
          </a:p>
          <a:p>
            <a:pPr marL="625475">
              <a:buNone/>
            </a:pPr>
            <a:r>
              <a:rPr lang="ru-RU" sz="4400" b="1" dirty="0" smtClean="0"/>
              <a:t>5</a:t>
            </a:r>
            <a:r>
              <a:rPr lang="ru-RU" sz="4400" b="1" dirty="0"/>
              <a:t>. Безопасность</a:t>
            </a:r>
          </a:p>
          <a:p>
            <a:pPr marL="625475">
              <a:buNone/>
            </a:pPr>
            <a:r>
              <a:rPr lang="ru-RU" sz="4400" dirty="0" err="1"/>
              <a:t>Django</a:t>
            </a:r>
            <a:r>
              <a:rPr lang="ru-RU" sz="4400" dirty="0"/>
              <a:t> ORM автоматически защищает ваш сайт от </a:t>
            </a:r>
            <a:r>
              <a:rPr lang="ru-RU" sz="4400" b="1" dirty="0"/>
              <a:t>SQL-инъекций</a:t>
            </a:r>
            <a:r>
              <a:rPr lang="ru-RU" sz="4400" dirty="0"/>
              <a:t> (популярный вид хакерских атак), потому что она сама правильно «экранирует» все данные, которые пользователи вводят в строку поиска.</a:t>
            </a:r>
          </a:p>
          <a:p>
            <a:pPr marL="625475"/>
            <a:endParaRPr lang="ru-RU" sz="4400" dirty="0" smtClean="0"/>
          </a:p>
          <a:p>
            <a:pPr marL="0" indent="0">
              <a:buNone/>
            </a:pPr>
            <a:r>
              <a:rPr lang="ru-RU" sz="4400" b="1" dirty="0" err="1" smtClean="0"/>
              <a:t>Pagination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django.core.paginator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Разделение длинного списка новостей на страницы </a:t>
            </a:r>
            <a:r>
              <a:rPr lang="ru-RU" sz="4400" dirty="0" smtClean="0"/>
              <a:t>, что бы</a:t>
            </a:r>
            <a:r>
              <a:rPr lang="ru-RU" sz="4400" dirty="0" smtClean="0"/>
              <a:t> сайт </a:t>
            </a:r>
            <a:r>
              <a:rPr lang="ru-RU" sz="4400" dirty="0" smtClean="0"/>
              <a:t>не «тормозил» при наличии сотен статей.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6550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260648"/>
            <a:ext cx="8229600" cy="703840"/>
          </a:xfrm>
        </p:spPr>
        <p:txBody>
          <a:bodyPr>
            <a:normAutofit fontScale="90000"/>
          </a:bodyPr>
          <a:lstStyle/>
          <a:p>
            <a:r>
              <a:rPr lang="ru-RU" b="1" u="sng" dirty="0"/>
              <a:t>Инструкция по запуску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052736"/>
            <a:ext cx="8229600" cy="504056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ru-RU" sz="900" u="sng" dirty="0"/>
          </a:p>
          <a:p>
            <a:pPr marL="0" indent="0">
              <a:buNone/>
            </a:pPr>
            <a:r>
              <a:rPr lang="ru-RU" sz="1000" dirty="0"/>
              <a:t>Устанавливаем библиотеку </a:t>
            </a:r>
            <a:r>
              <a:rPr lang="ru-RU" sz="1000" b="1" dirty="0" err="1"/>
              <a:t>pip</a:t>
            </a:r>
            <a:r>
              <a:rPr lang="ru-RU" sz="1000" b="1" dirty="0"/>
              <a:t> </a:t>
            </a:r>
            <a:r>
              <a:rPr lang="ru-RU" sz="1000" b="1" dirty="0" err="1"/>
              <a:t>install</a:t>
            </a:r>
            <a:r>
              <a:rPr lang="ru-RU" sz="1000" b="1" dirty="0"/>
              <a:t> </a:t>
            </a:r>
            <a:r>
              <a:rPr lang="ru-RU" sz="1000" b="1" dirty="0" err="1"/>
              <a:t>Pillow</a:t>
            </a:r>
            <a:endParaRPr lang="ru-RU" sz="1000" b="1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err="1" smtClean="0"/>
              <a:t>Pillow</a:t>
            </a:r>
            <a:r>
              <a:rPr lang="ru-RU" sz="1000" u="sng" dirty="0" smtClean="0"/>
              <a:t> </a:t>
            </a:r>
            <a:r>
              <a:rPr lang="ru-RU" sz="1000" u="sng" dirty="0"/>
              <a:t>играет  </a:t>
            </a:r>
            <a:r>
              <a:rPr lang="ru-RU" sz="1000" u="sng" dirty="0" smtClean="0"/>
              <a:t>роль в  </a:t>
            </a:r>
            <a:r>
              <a:rPr lang="ru-RU" sz="1000" u="sng" dirty="0"/>
              <a:t>коде: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Валидация</a:t>
            </a:r>
            <a:r>
              <a:rPr lang="ru-RU" sz="1000" dirty="0"/>
              <a:t> данных (Проверка)</a:t>
            </a:r>
          </a:p>
          <a:p>
            <a:pPr marL="0" indent="0">
              <a:buNone/>
            </a:pPr>
            <a:r>
              <a:rPr lang="ru-RU" sz="1000" dirty="0" smtClean="0"/>
              <a:t>Библиотека </a:t>
            </a:r>
            <a:r>
              <a:rPr lang="ru-RU" sz="1000" dirty="0"/>
              <a:t>проверяет:</a:t>
            </a:r>
          </a:p>
          <a:p>
            <a:pPr marL="0" indent="0">
              <a:buNone/>
            </a:pPr>
            <a:r>
              <a:rPr lang="ru-RU" sz="1000" dirty="0"/>
              <a:t>Является ли загруженный файл настоящим изображением, а не текстовым файлом с расширением .</a:t>
            </a:r>
            <a:r>
              <a:rPr lang="ru-RU" sz="1000" dirty="0" err="1"/>
              <a:t>jpg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Не поврежден ли файл.</a:t>
            </a:r>
          </a:p>
          <a:p>
            <a:pPr marL="0" indent="0">
              <a:buNone/>
            </a:pPr>
            <a:r>
              <a:rPr lang="ru-RU" sz="1000" dirty="0"/>
              <a:t>Каковы его размеры (ширина и высота).</a:t>
            </a:r>
          </a:p>
          <a:p>
            <a:pPr marL="0" indent="0">
              <a:buNone/>
            </a:pPr>
            <a:r>
              <a:rPr lang="ru-RU" sz="1000" dirty="0"/>
              <a:t>2. Чтение метаданных</a:t>
            </a:r>
          </a:p>
          <a:p>
            <a:pPr marL="0" indent="0">
              <a:buNone/>
            </a:pPr>
            <a:r>
              <a:rPr lang="ru-RU" sz="1000" dirty="0" err="1"/>
              <a:t>Pillow</a:t>
            </a:r>
            <a:r>
              <a:rPr lang="ru-RU" sz="1000" dirty="0"/>
              <a:t> позволяет </a:t>
            </a:r>
            <a:r>
              <a:rPr lang="ru-RU" sz="1000" dirty="0" err="1"/>
              <a:t>Django</a:t>
            </a:r>
            <a:r>
              <a:rPr lang="ru-RU" sz="1000" dirty="0"/>
              <a:t> извлекать информацию о картинке. Например, если вы захотите выводить на сайте разрешение фото или дату съемки из EXIF-данных, </a:t>
            </a:r>
            <a:r>
              <a:rPr lang="ru-RU" sz="1000" dirty="0" err="1"/>
              <a:t>Pillow</a:t>
            </a:r>
            <a:r>
              <a:rPr lang="ru-RU" sz="1000" dirty="0"/>
              <a:t> сделает это за вас</a:t>
            </a:r>
            <a:r>
              <a:rPr lang="ru-RU" sz="1000" dirty="0" smtClean="0"/>
              <a:t>.</a:t>
            </a:r>
          </a:p>
          <a:p>
            <a:pPr marL="0" indent="0">
              <a:buNone/>
            </a:pPr>
            <a:r>
              <a:rPr lang="ru-RU" sz="1000" b="1" dirty="0"/>
              <a:t>Запуск:</a:t>
            </a:r>
            <a:endParaRPr lang="ru-RU" sz="1000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makemigrations</a:t>
            </a:r>
            <a:endParaRPr lang="ru-RU" sz="1000" b="1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migrate</a:t>
            </a:r>
            <a:endParaRPr lang="ru-RU" sz="1000" b="1" dirty="0"/>
          </a:p>
          <a:p>
            <a:pPr marL="0" indent="0">
              <a:buNone/>
            </a:pP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smtClean="0"/>
              <a:t>Роль </a:t>
            </a:r>
            <a:r>
              <a:rPr lang="ru-RU" sz="1000" u="sng" dirty="0" err="1"/>
              <a:t>makemigrations</a:t>
            </a:r>
            <a:r>
              <a:rPr lang="ru-RU" sz="1000" u="sng" dirty="0"/>
              <a:t> и  </a:t>
            </a:r>
            <a:r>
              <a:rPr lang="ru-RU" sz="1000" u="sng" dirty="0" err="1"/>
              <a:t>migrate</a:t>
            </a:r>
            <a:r>
              <a:rPr lang="ru-RU" sz="1000" u="sng" dirty="0"/>
              <a:t> </a:t>
            </a:r>
            <a:r>
              <a:rPr lang="ru-RU" sz="1000" dirty="0"/>
              <a:t>— синхронизировать то, что мы написали в коде (models.py), с тем, что реально хранится в файле базы данных (db.sqlite3).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makemigrations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Создание «инструкции» по обновлению.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сканирует ваши модели и ищет изменения (например, вы добавили поле </a:t>
            </a:r>
            <a:r>
              <a:rPr lang="ru-RU" sz="1000" dirty="0" err="1"/>
              <a:t>image</a:t>
            </a:r>
            <a:r>
              <a:rPr lang="ru-RU" sz="1000" dirty="0"/>
              <a:t> или изменили </a:t>
            </a:r>
            <a:r>
              <a:rPr lang="ru-RU" sz="1000" dirty="0" err="1"/>
              <a:t>max_length</a:t>
            </a:r>
            <a:r>
              <a:rPr lang="ru-RU" sz="1000" dirty="0"/>
              <a:t>).</a:t>
            </a:r>
          </a:p>
          <a:p>
            <a:pPr marL="0" indent="0">
              <a:buNone/>
            </a:pPr>
            <a:r>
              <a:rPr lang="ru-RU" sz="1000" dirty="0"/>
              <a:t>Результат: В папке </a:t>
            </a:r>
            <a:r>
              <a:rPr lang="ru-RU" sz="1000" dirty="0" err="1"/>
              <a:t>migrations</a:t>
            </a:r>
            <a:r>
              <a:rPr lang="ru-RU" sz="1000" dirty="0"/>
              <a:t> внутри вашего приложения появляется новый файл (например, 0002_article_image.py).</a:t>
            </a:r>
          </a:p>
          <a:p>
            <a:pPr marL="0" indent="0">
              <a:buNone/>
            </a:pPr>
            <a:r>
              <a:rPr lang="ru-RU" sz="1000" dirty="0"/>
              <a:t>Простыми словами: Это как чертеж или список покупок, который говорит базе: «Скоро нам нужно будет добавить новый столбец». На этом этапе в самой базе еще ничего не меняется.</a:t>
            </a:r>
          </a:p>
          <a:p>
            <a:pPr marL="0" indent="0">
              <a:buNone/>
            </a:pPr>
            <a:r>
              <a:rPr lang="ru-RU" sz="1000" dirty="0"/>
              <a:t>2.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migrate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Выполнение «инструкции».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берет файлы из папки </a:t>
            </a:r>
            <a:r>
              <a:rPr lang="ru-RU" sz="1000" dirty="0" err="1"/>
              <a:t>migrations</a:t>
            </a:r>
            <a:r>
              <a:rPr lang="ru-RU" sz="1000" dirty="0"/>
              <a:t>, которые еще не были применены, и превращает их в реальные SQL-запросы к базе данных.</a:t>
            </a:r>
          </a:p>
          <a:p>
            <a:pPr marL="0" indent="0">
              <a:buNone/>
            </a:pPr>
            <a:r>
              <a:rPr lang="ru-RU" sz="1000" dirty="0"/>
              <a:t>Результат: В таблице </a:t>
            </a:r>
            <a:r>
              <a:rPr lang="ru-RU" sz="1000" dirty="0" err="1"/>
              <a:t>articles_article</a:t>
            </a:r>
            <a:r>
              <a:rPr lang="ru-RU" sz="1000" dirty="0"/>
              <a:t> физически появляется колонка </a:t>
            </a:r>
            <a:r>
              <a:rPr lang="ru-RU" sz="1000" dirty="0" err="1"/>
              <a:t>image</a:t>
            </a:r>
            <a:r>
              <a:rPr lang="ru-RU" sz="1000" dirty="0"/>
              <a:t>. </a:t>
            </a:r>
            <a:endParaRPr lang="ru-RU" sz="1000" dirty="0" smtClean="0"/>
          </a:p>
          <a:p>
            <a:pPr marL="0" indent="0">
              <a:buNone/>
            </a:pPr>
            <a:r>
              <a:rPr lang="ru-RU" sz="1000" dirty="0" smtClean="0"/>
              <a:t>Простыми </a:t>
            </a:r>
            <a:r>
              <a:rPr lang="ru-RU" sz="1000" dirty="0"/>
              <a:t>словами: Это строитель, который берет чертеж из первого шага и реально перестраивает стену (базу данных</a:t>
            </a:r>
            <a:r>
              <a:rPr lang="ru-RU" sz="1000" dirty="0" smtClean="0"/>
              <a:t>).</a:t>
            </a:r>
          </a:p>
          <a:p>
            <a:pPr marL="0" indent="0">
              <a:buNone/>
            </a:pPr>
            <a:r>
              <a:rPr lang="ru-RU" sz="1000" b="1" dirty="0" smtClean="0"/>
              <a:t>Запуск: </a:t>
            </a:r>
            <a:r>
              <a:rPr lang="ru-RU" sz="1000" b="1" dirty="0" err="1" smtClean="0"/>
              <a:t>python</a:t>
            </a:r>
            <a:r>
              <a:rPr lang="ru-RU" sz="1000" b="1" dirty="0" smtClean="0"/>
              <a:t> manage.py </a:t>
            </a:r>
            <a:r>
              <a:rPr lang="ru-RU" sz="1000" b="1" dirty="0" err="1" smtClean="0"/>
              <a:t>runserver</a:t>
            </a:r>
            <a:endParaRPr lang="ru-RU" sz="1000" b="1" dirty="0" smtClean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dirty="0"/>
              <a:t>Регистрироваться можно прямо с сайта "</a:t>
            </a:r>
            <a:r>
              <a:rPr lang="ru-RU" sz="1000" dirty="0" err="1"/>
              <a:t>article</a:t>
            </a:r>
            <a:r>
              <a:rPr lang="ru-RU" sz="1000" dirty="0"/>
              <a:t>", не через  /</a:t>
            </a:r>
            <a:r>
              <a:rPr lang="ru-RU" sz="1000" dirty="0" err="1"/>
              <a:t>admin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Статьи добавляются через /</a:t>
            </a:r>
            <a:r>
              <a:rPr lang="ru-RU" sz="1000" dirty="0" err="1"/>
              <a:t>admin</a:t>
            </a:r>
            <a:r>
              <a:rPr lang="ru-RU" sz="1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5040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Бизнес задача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    </a:t>
            </a:r>
            <a:r>
              <a:rPr lang="ru-RU" i="1" u="sng" dirty="0" smtClean="0"/>
              <a:t>Программа </a:t>
            </a:r>
            <a:r>
              <a:rPr lang="ru-RU" i="1" u="sng" dirty="0"/>
              <a:t>автоматизирует процесс публикации и распространения контента. Она позволяет компании или сообществу:</a:t>
            </a:r>
          </a:p>
          <a:p>
            <a:r>
              <a:rPr lang="ru-RU" dirty="0"/>
              <a:t>Централизованно информировать аудиторию (новости, статьи, анонсы).</a:t>
            </a:r>
          </a:p>
          <a:p>
            <a:r>
              <a:rPr lang="ru-RU" dirty="0"/>
              <a:t>Повышать вовлеченность через систему комментариев и тегов.</a:t>
            </a:r>
          </a:p>
          <a:p>
            <a:r>
              <a:rPr lang="ru-RU" dirty="0"/>
              <a:t>Персонализировать опыт пользователя (возможность сохранять статьи в «Избранное»).</a:t>
            </a:r>
          </a:p>
          <a:p>
            <a:r>
              <a:rPr lang="ru-RU" dirty="0"/>
              <a:t>Разграничивать права: только доверенные лица (админы) создают контент, а пользователи его потребляют и обсуждают.</a:t>
            </a:r>
          </a:p>
        </p:txBody>
      </p:sp>
    </p:spTree>
    <p:extLst>
      <p:ext uri="{BB962C8B-B14F-4D97-AF65-F5344CB8AC3E}">
        <p14:creationId xmlns:p14="http://schemas.microsoft.com/office/powerpoint/2010/main" val="2130190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E:\TOP\Pandas\mini-проект\Демонстрация\вход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38" y="1811338"/>
            <a:ext cx="7029722" cy="258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3485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E:\TOP\Pandas\mini-проект\Демонстрация\Добавление коментариев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1772816"/>
            <a:ext cx="7992888" cy="4022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6079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Регистрация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</p:txBody>
      </p:sp>
      <p:pic>
        <p:nvPicPr>
          <p:cNvPr id="3074" name="Picture 2" descr="E:\TOP\Pandas\mini-проект\Демонстрация\регистрация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1628799"/>
            <a:ext cx="6800428" cy="4140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5227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Литейная">
  <a:themeElements>
    <a:clrScheme name="Литейная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Литейная">
      <a:maj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Литей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5000"/>
                <a:satMod val="400000"/>
              </a:schemeClr>
            </a:gs>
            <a:gs pos="20000">
              <a:schemeClr val="phClr">
                <a:tint val="80000"/>
                <a:satMod val="355000"/>
              </a:schemeClr>
            </a:gs>
            <a:gs pos="100000">
              <a:schemeClr val="phClr">
                <a:tint val="95000"/>
                <a:shade val="55000"/>
                <a:satMod val="355000"/>
              </a:schemeClr>
            </a:gs>
          </a:gsLst>
          <a:path path="circle">
            <a:fillToRect l="67500" t="35000" r="32500" b="65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250000"/>
              </a:schemeClr>
            </a:duotone>
          </a:blip>
          <a:tile tx="0" ty="0" sx="50000" sy="50000" flip="none" algn="t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Foundry</Template>
  <TotalTime>165</TotalTime>
  <Words>470</Words>
  <Application>Microsoft Office PowerPoint</Application>
  <PresentationFormat>Экран (4:3)</PresentationFormat>
  <Paragraphs>74</Paragraphs>
  <Slides>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0" baseType="lpstr">
      <vt:lpstr>Литейная</vt:lpstr>
      <vt:lpstr>Блог/новостной портал с авторизацией</vt:lpstr>
      <vt:lpstr>Презентация PowerPoint</vt:lpstr>
      <vt:lpstr>Описание проекта</vt:lpstr>
      <vt:lpstr>Библиотеки или компоненты Django использовались и зачем</vt:lpstr>
      <vt:lpstr>Инструкция по запуску</vt:lpstr>
      <vt:lpstr>Бизнес задача</vt:lpstr>
      <vt:lpstr>Презентация PowerPoint</vt:lpstr>
      <vt:lpstr>Презентация PowerPoint</vt:lpstr>
      <vt:lpstr>Регистрация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Новостной портал</dc:title>
  <dc:creator>Lera</dc:creator>
  <cp:lastModifiedBy>Lera</cp:lastModifiedBy>
  <cp:revision>15</cp:revision>
  <dcterms:created xsi:type="dcterms:W3CDTF">2026-03-28T08:39:26Z</dcterms:created>
  <dcterms:modified xsi:type="dcterms:W3CDTF">2026-03-29T07:10:44Z</dcterms:modified>
</cp:coreProperties>
</file>