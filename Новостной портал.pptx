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66" r:id="rId3"/>
    <p:sldId id="267" r:id="rId4"/>
    <p:sldId id="268" r:id="rId5"/>
    <p:sldId id="269" r:id="rId6"/>
    <p:sldId id="270" r:id="rId7"/>
    <p:sldId id="264" r:id="rId8"/>
    <p:sldId id="271" r:id="rId9"/>
    <p:sldId id="272" r:id="rId10"/>
    <p:sldId id="265" r:id="rId11"/>
    <p:sldId id="262" r:id="rId12"/>
    <p:sldId id="257" r:id="rId13"/>
    <p:sldId id="258" r:id="rId14"/>
    <p:sldId id="259" r:id="rId1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25" d="100"/>
          <a:sy n="25" d="100"/>
        </p:scale>
        <p:origin x="-3029" y="-12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6304"/>
            <a:ext cx="8814816" cy="2505456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64234" y="381001"/>
            <a:ext cx="8229600" cy="2209800"/>
          </a:xfrm>
        </p:spPr>
        <p:txBody>
          <a:bodyPr lIns="45720" rIns="228600" anchor="b">
            <a:normAutofit/>
          </a:bodyPr>
          <a:lstStyle>
            <a:lvl1pPr marL="0" algn="r">
              <a:defRPr sz="480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2133600" y="2819400"/>
            <a:ext cx="6560234" cy="1752600"/>
          </a:xfrm>
        </p:spPr>
        <p:txBody>
          <a:bodyPr lIns="45720" rIns="246888"/>
          <a:lstStyle>
            <a:lvl1pPr marL="0" indent="0" algn="r">
              <a:spcBef>
                <a:spcPts val="0"/>
              </a:spcBef>
              <a:buNone/>
              <a:defRPr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Нижний колонтитул 11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000128" y="3267456"/>
            <a:ext cx="74066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76" y="498230"/>
            <a:ext cx="7772400" cy="2731008"/>
          </a:xfrm>
        </p:spPr>
        <p:txBody>
          <a:bodyPr rIns="100584"/>
          <a:lstStyle>
            <a:lvl1pPr algn="r">
              <a:buNone/>
              <a:defRPr sz="4000" b="1" cap="none">
                <a:solidFill>
                  <a:schemeClr val="accent1">
                    <a:tint val="95000"/>
                    <a:satMod val="200000"/>
                  </a:schemeClr>
                </a:solidFill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287713"/>
            <a:ext cx="7772400" cy="1509712"/>
          </a:xfrm>
        </p:spPr>
        <p:txBody>
          <a:bodyPr rIns="128016" anchor="t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616744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4800600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1948"/>
            <a:ext cx="8229600" cy="1143000"/>
          </a:xfrm>
        </p:spPr>
        <p:txBody>
          <a:bodyPr anchor="b"/>
          <a:lstStyle>
            <a:lvl1pPr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3"/>
            <a:ext cx="4041775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941763"/>
          </a:xfrm>
        </p:spPr>
        <p:txBody>
          <a:bodyPr lIns="9144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9417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218"/>
            <a:ext cx="822960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5057552" y="105765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63136" y="304800"/>
            <a:ext cx="3931920" cy="762000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963136" y="1107560"/>
            <a:ext cx="3931920" cy="1066800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228600" y="2209800"/>
            <a:ext cx="8666456" cy="3977640"/>
          </a:xfrm>
        </p:spPr>
        <p:txBody>
          <a:bodyPr/>
          <a:lstStyle>
            <a:lvl1pPr marL="292608">
              <a:defRPr sz="3200"/>
            </a:lvl1pPr>
            <a:lvl2pPr marL="594360">
              <a:defRPr sz="2800"/>
            </a:lvl2pPr>
            <a:lvl3pPr marL="822960">
              <a:defRPr sz="2400"/>
            </a:lvl3pPr>
            <a:lvl4pPr marL="1051560">
              <a:defRPr sz="2000"/>
            </a:lvl4pPr>
            <a:lvl5pPr marL="1261872"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9" name="Дата 8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Нижний колонтитул 10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0443" y="4724400"/>
            <a:ext cx="5486400" cy="664536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40443" y="5388936"/>
            <a:ext cx="5486400" cy="912255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13" name="Рисунок 12"/>
          <p:cNvSpPr>
            <a:spLocks noGrp="1"/>
          </p:cNvSpPr>
          <p:nvPr>
            <p:ph type="pic" idx="1"/>
          </p:nvPr>
        </p:nvSpPr>
        <p:spPr>
          <a:xfrm>
            <a:off x="304800" y="249864"/>
            <a:ext cx="8534400" cy="4343400"/>
          </a:xfrm>
          <a:prstGeom prst="round2DiagRect">
            <a:avLst>
              <a:gd name="adj1" fmla="val 11403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  <a:extLst/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7085"/>
            <a:ext cx="8810846" cy="6565392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1295400" y="6400800"/>
            <a:ext cx="4212264" cy="274320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endParaRPr lang="ru-RU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5562600" y="6400800"/>
            <a:ext cx="3002280" cy="274320"/>
          </a:xfrm>
          <a:prstGeom prst="rect">
            <a:avLst/>
          </a:prstGeom>
        </p:spPr>
        <p:txBody>
          <a:bodyPr/>
          <a:lstStyle>
            <a:lvl1pPr algn="l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638952" y="6514568"/>
            <a:ext cx="464288" cy="274320"/>
          </a:xfrm>
          <a:prstGeom prst="rect">
            <a:avLst/>
          </a:prstGeom>
        </p:spPr>
        <p:txBody>
          <a:bodyPr anchor="ctr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  <a:effectLst/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1143000"/>
          </a:xfrm>
          <a:prstGeom prst="rect">
            <a:avLst/>
          </a:prstGeom>
        </p:spPr>
        <p:txBody>
          <a:bodyPr rIns="91440" anchor="b">
            <a:normAutofit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46237"/>
            <a:ext cx="8229600" cy="452628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marL="54864" algn="r" rtl="0" eaLnBrk="1" latinLnBrk="0" hangingPunct="1">
        <a:spcBef>
          <a:spcPct val="0"/>
        </a:spcBef>
        <a:buNone/>
        <a:defRPr kumimoji="0" sz="4600" kern="1200">
          <a:solidFill>
            <a:schemeClr val="tx2">
              <a:tint val="100000"/>
              <a:shade val="90000"/>
              <a:satMod val="250000"/>
              <a:alpha val="100000"/>
            </a:schemeClr>
          </a:solidFill>
          <a:effectLst>
            <a:outerShdw blurRad="38100" dist="25500" dir="5400000" algn="tl" rotWithShape="0">
              <a:srgbClr val="000000">
                <a:satMod val="180000"/>
                <a:alpha val="7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92100" indent="-292100" algn="l" rtl="0" eaLnBrk="1" latinLnBrk="0" hangingPunct="1">
        <a:spcBef>
          <a:spcPts val="0"/>
        </a:spcBef>
        <a:buClr>
          <a:schemeClr val="accent1"/>
        </a:buClr>
        <a:buSzPct val="70000"/>
        <a:buFont typeface="Wingdings 2"/>
        <a:buChar char="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rtl="0" eaLnBrk="1" latinLnBrk="0" hangingPunct="1">
        <a:spcBef>
          <a:spcPts val="400"/>
        </a:spcBef>
        <a:buClr>
          <a:schemeClr val="accent2"/>
        </a:buClr>
        <a:buSzPct val="90000"/>
        <a:buFontTx/>
        <a:buChar char="•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92024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yapl.ru/ru/asutpforum.ru/" TargetMode="External"/><Relationship Id="rId2" Type="http://schemas.openxmlformats.org/officeDocument/2006/relationships/hyperlink" Target="https://asutpforum.ru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sutpforum.ru/viewforum.php?f=162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/>
            <a:r>
              <a:rPr lang="ru-RU" b="1" dirty="0"/>
              <a:t>Блог/новостной портал </a:t>
            </a:r>
            <a:r>
              <a:rPr lang="ru-RU" b="1" dirty="0" smtClean="0"/>
              <a:t>АСУТП с </a:t>
            </a:r>
            <a:r>
              <a:rPr lang="ru-RU" b="1" dirty="0" smtClean="0"/>
              <a:t>авторизацией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Пользователи могут регистрироваться, читать статьи, оставлять комментарии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286000" y="4797152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/>
              <a:t>Имя</a:t>
            </a:r>
            <a:r>
              <a:rPr lang="en-US" b="1" dirty="0" smtClean="0"/>
              <a:t>: </a:t>
            </a:r>
            <a:r>
              <a:rPr lang="ru-RU" b="1" dirty="0" smtClean="0"/>
              <a:t>Сергей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7372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32656"/>
            <a:ext cx="8208912" cy="6120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60294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</a:t>
            </a:r>
            <a:r>
              <a:rPr lang="ru-RU" dirty="0" smtClean="0"/>
              <a:t>писание </a:t>
            </a:r>
            <a:r>
              <a:rPr lang="ru-RU" dirty="0"/>
              <a:t>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Этот </a:t>
            </a:r>
            <a:r>
              <a:rPr lang="ru-RU" dirty="0"/>
              <a:t>проект представляет собой функциональный веб-сервис </a:t>
            </a:r>
            <a:r>
              <a:rPr lang="ru-RU" dirty="0" smtClean="0"/>
              <a:t>новостей АСУТП для </a:t>
            </a:r>
            <a:r>
              <a:rPr lang="ru-RU" dirty="0"/>
              <a:t>публикации </a:t>
            </a:r>
            <a:r>
              <a:rPr lang="ru-RU" dirty="0" smtClean="0"/>
              <a:t>инженерами АСУТП контента </a:t>
            </a:r>
            <a:r>
              <a:rPr lang="ru-RU" dirty="0"/>
              <a:t>и социального взаимодействия, построенный на базе </a:t>
            </a:r>
            <a:r>
              <a:rPr lang="ru-RU" dirty="0" err="1"/>
              <a:t>фреймворка</a:t>
            </a:r>
            <a:r>
              <a:rPr lang="ru-RU" dirty="0"/>
              <a:t> </a:t>
            </a:r>
            <a:r>
              <a:rPr lang="ru-RU" dirty="0" err="1"/>
              <a:t>Django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5846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ru-RU" dirty="0"/>
              <a:t>Основная задача форума — создать пространство, где инженеры, программисты, технические писатели и другие специалисты по АСУТП (автоматизированным системам управления технологическими процессами) могут:</a:t>
            </a:r>
          </a:p>
          <a:p>
            <a:r>
              <a:rPr lang="ru-RU" b="1" dirty="0"/>
              <a:t>Обсуждать сложные технические вопросы.</a:t>
            </a:r>
            <a:r>
              <a:rPr lang="ru-RU" dirty="0"/>
              <a:t> Участники делятся опытом, разбирают ошибки и ищут решения проблем, связанных с программируемыми логическими контроллерами (ПЛК), SCADA-системами, сетевым оборудованием (например, </a:t>
            </a:r>
            <a:r>
              <a:rPr lang="ru-RU" dirty="0" err="1"/>
              <a:t>Profibus</a:t>
            </a:r>
            <a:r>
              <a:rPr lang="ru-RU" dirty="0"/>
              <a:t>, </a:t>
            </a:r>
            <a:r>
              <a:rPr lang="ru-RU" dirty="0" err="1"/>
              <a:t>Modbus</a:t>
            </a:r>
            <a:r>
              <a:rPr lang="ru-RU" dirty="0"/>
              <a:t>), языками программирования для ПЛК и их интеграцией с человеко-машинными интерфейсами (HMI). </a:t>
            </a:r>
            <a:r>
              <a:rPr lang="ru-RU" dirty="0">
                <a:hlinkClick r:id="rId2"/>
              </a:rPr>
              <a:t>asutpforum.ru</a:t>
            </a:r>
            <a:r>
              <a:rPr lang="ru-RU" dirty="0">
                <a:hlinkClick r:id="rId3"/>
              </a:rPr>
              <a:t>yapl.ru</a:t>
            </a:r>
            <a:r>
              <a:rPr lang="ru-RU" dirty="0">
                <a:hlinkClick r:id="rId4"/>
              </a:rPr>
              <a:t>asutpforum.ru</a:t>
            </a:r>
            <a:endParaRPr lang="ru-RU" dirty="0"/>
          </a:p>
          <a:p>
            <a:r>
              <a:rPr lang="ru-RU" b="1" dirty="0"/>
              <a:t>Сравнивать подходы и решения.</a:t>
            </a:r>
            <a:r>
              <a:rPr lang="ru-RU" dirty="0"/>
              <a:t> Можно узнать, как коллеги решают схожие задачи с оборудованием разных производителей (</a:t>
            </a:r>
            <a:r>
              <a:rPr lang="ru-RU" dirty="0" err="1"/>
              <a:t>Siemens</a:t>
            </a:r>
            <a:r>
              <a:rPr lang="ru-RU" dirty="0"/>
              <a:t>, </a:t>
            </a:r>
            <a:r>
              <a:rPr lang="ru-RU" dirty="0" err="1"/>
              <a:t>Schneider</a:t>
            </a:r>
            <a:r>
              <a:rPr lang="ru-RU" dirty="0"/>
              <a:t> </a:t>
            </a:r>
            <a:r>
              <a:rPr lang="ru-RU" dirty="0" err="1"/>
              <a:t>Electric</a:t>
            </a:r>
            <a:r>
              <a:rPr lang="ru-RU" dirty="0"/>
              <a:t>, ОВЕН и др.).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b="1" dirty="0"/>
              <a:t>Находить готовые решения и FAQ.</a:t>
            </a:r>
            <a:r>
              <a:rPr lang="ru-RU" dirty="0"/>
              <a:t> На форуме есть разделы с часто задаваемыми вопросами (FAQ), которые помогают быстро получить ответ на типовые технические проблемы. </a:t>
            </a:r>
            <a:r>
              <a:rPr lang="ru-RU" dirty="0">
                <a:hlinkClick r:id="rId2"/>
              </a:rPr>
              <a:t>asutpforum.ru</a:t>
            </a:r>
            <a:endParaRPr lang="ru-RU" dirty="0"/>
          </a:p>
          <a:p>
            <a:r>
              <a:rPr lang="ru-RU" b="1" dirty="0"/>
              <a:t>Поддерживать профессиональное сообщество.</a:t>
            </a:r>
            <a:r>
              <a:rPr lang="ru-RU" dirty="0"/>
              <a:t> Форум объединяет специалистов, позволяя им оставаться в курсе отраслевых трендов и оперативно обмениваться знаниями.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dirty="0"/>
              <a:t>Таким образом, площадка помогает преодолеть разобщённость: вместо того чтобы искать разрозненную информацию по разным источникам, участники могут оперативно получить помощь от коллег. Это особенно важно в такой технически сложной и динамичной сфере, как промышленная автоматизация.</a:t>
            </a:r>
          </a:p>
          <a:p>
            <a:r>
              <a:rPr lang="ru-RU" dirty="0"/>
              <a:t/>
            </a:r>
            <a:br>
              <a:rPr lang="ru-RU" dirty="0"/>
            </a:br>
            <a:r>
              <a:rPr lang="ru-RU" dirty="0"/>
              <a:t> </a:t>
            </a:r>
            <a:r>
              <a:rPr lang="ru-RU" dirty="0" smtClean="0"/>
              <a:t>    Это</a:t>
            </a:r>
            <a:r>
              <a:rPr lang="ru-RU" dirty="0"/>
              <a:t> форум для специалистов в области АСУ ТП (автоматизированных систем управления технологическими процессами), электротехники и промышленной автоматизации.</a:t>
            </a:r>
          </a:p>
          <a:p>
            <a:pPr marL="536575" indent="-536575"/>
            <a:r>
              <a:rPr lang="ru-RU" b="1" dirty="0"/>
              <a:t>Какие проблемы помогает </a:t>
            </a:r>
            <a:r>
              <a:rPr lang="ru-RU" b="1" dirty="0" smtClean="0"/>
              <a:t>решить</a:t>
            </a:r>
            <a:r>
              <a:rPr lang="en-US" b="1" dirty="0" smtClean="0"/>
              <a:t>:</a:t>
            </a:r>
            <a:endParaRPr lang="ru-RU" b="1" dirty="0"/>
          </a:p>
          <a:p>
            <a:r>
              <a:rPr lang="ru-RU" dirty="0"/>
              <a:t>Форум закрывает сразу несколько задач:</a:t>
            </a:r>
          </a:p>
          <a:p>
            <a:r>
              <a:rPr lang="en-US" b="1" dirty="0" smtClean="0"/>
              <a:t>     </a:t>
            </a:r>
            <a:r>
              <a:rPr lang="ru-RU" b="1" dirty="0" smtClean="0"/>
              <a:t>Поиск</a:t>
            </a:r>
            <a:r>
              <a:rPr lang="ru-RU" b="1" dirty="0"/>
              <a:t> решений технических проблем.</a:t>
            </a:r>
            <a:r>
              <a:rPr lang="ru-RU" dirty="0"/>
              <a:t> На форуме разбирают сбои и нюансы работы оборудования и ПО — например, проблемы с SCADA-системами, ПЛК (программируемыми логическими контроллерами), интерфейсами и протоколами связи.</a:t>
            </a:r>
          </a:p>
          <a:p>
            <a:r>
              <a:rPr lang="en-US" b="1" dirty="0" smtClean="0"/>
              <a:t>           </a:t>
            </a:r>
            <a:r>
              <a:rPr lang="ru-RU" b="1" dirty="0" smtClean="0"/>
              <a:t>Обмен</a:t>
            </a:r>
            <a:r>
              <a:rPr lang="ru-RU" b="1" dirty="0"/>
              <a:t> опытом по оборудованию и софту.</a:t>
            </a:r>
            <a:r>
              <a:rPr lang="ru-RU" dirty="0"/>
              <a:t> Обсуждают решения на базе </a:t>
            </a:r>
            <a:r>
              <a:rPr lang="ru-RU" dirty="0" err="1"/>
              <a:t>Siemens</a:t>
            </a:r>
            <a:r>
              <a:rPr lang="ru-RU" dirty="0"/>
              <a:t>, </a:t>
            </a:r>
            <a:r>
              <a:rPr lang="ru-RU" dirty="0" err="1"/>
              <a:t>Beckhoff</a:t>
            </a:r>
            <a:r>
              <a:rPr lang="ru-RU" dirty="0"/>
              <a:t>, ОВЕН, </a:t>
            </a:r>
            <a:r>
              <a:rPr lang="ru-RU" dirty="0" err="1"/>
              <a:t>DeltaV</a:t>
            </a:r>
            <a:r>
              <a:rPr lang="ru-RU" dirty="0"/>
              <a:t>, </a:t>
            </a:r>
            <a:r>
              <a:rPr lang="ru-RU" dirty="0" err="1"/>
              <a:t>Mitsubishi</a:t>
            </a:r>
            <a:r>
              <a:rPr lang="ru-RU" dirty="0"/>
              <a:t> и др., а также работу в средах типа TIA </a:t>
            </a:r>
            <a:r>
              <a:rPr lang="ru-RU" dirty="0" err="1"/>
              <a:t>Portal</a:t>
            </a:r>
            <a:r>
              <a:rPr lang="ru-RU" dirty="0"/>
              <a:t>, EPLAN и т. п.</a:t>
            </a:r>
          </a:p>
          <a:p>
            <a:r>
              <a:rPr lang="ru-RU" b="1" dirty="0"/>
              <a:t>Консультации по проектированию и наладке.</a:t>
            </a:r>
            <a:r>
              <a:rPr lang="ru-RU" dirty="0"/>
              <a:t> Участники помогают с выбором компонентов, </a:t>
            </a:r>
            <a:r>
              <a:rPr lang="ru-RU" dirty="0" err="1"/>
              <a:t>схемотехникой</a:t>
            </a:r>
            <a:r>
              <a:rPr lang="ru-RU" dirty="0"/>
              <a:t>, настройкой алгоритмов управления, вопросами КИП (контрольно-измерительных приборов).</a:t>
            </a:r>
          </a:p>
          <a:p>
            <a:r>
              <a:rPr lang="ru-RU" b="1" dirty="0"/>
              <a:t>Разбор нормативных и проектных вопросов.</a:t>
            </a:r>
            <a:r>
              <a:rPr lang="ru-RU" dirty="0"/>
              <a:t> </a:t>
            </a:r>
            <a:r>
              <a:rPr lang="ru-RU" dirty="0" smtClean="0"/>
              <a:t>  </a:t>
            </a:r>
            <a:r>
              <a:rPr lang="ru-RU" dirty="0"/>
              <a:t>Цели и задачи проекта: Формулировка целей и конкретных задач, которые были поставлены перед началом работы.</a:t>
            </a:r>
          </a:p>
          <a:p>
            <a:endParaRPr lang="ru-RU" b="1" dirty="0"/>
          </a:p>
          <a:p>
            <a:r>
              <a:rPr lang="en-US" dirty="0" smtClean="0"/>
              <a:t>     </a:t>
            </a:r>
            <a:r>
              <a:rPr lang="ru-RU" dirty="0" smtClean="0"/>
              <a:t>Создание Новостного портала АСУТП </a:t>
            </a:r>
            <a:r>
              <a:rPr lang="ru-RU" dirty="0"/>
              <a:t>было направлено на решение ряда задач, связанных с потребностями профессионального сообщества в области АСУ ТП (автоматизированных систем управления технологическими процессами) и промышленной автоматизации</a:t>
            </a:r>
            <a:r>
              <a:rPr lang="ru-RU" dirty="0" smtClean="0"/>
              <a:t>. Что крайне не обходимо в последнее время в связи с санкциями в области АСУТП, которые были запущенны западными странами против России. Многие ведущие мировые бренды такие как </a:t>
            </a:r>
            <a:r>
              <a:rPr lang="en-US" dirty="0" smtClean="0"/>
              <a:t>Siemens, Yokogawa, Honeywell </a:t>
            </a:r>
            <a:r>
              <a:rPr lang="ru-RU" dirty="0" smtClean="0"/>
              <a:t>и другие ушли с Российского рынка, прекратили техническую поддержку хотя оборудование этих брендов продолжает функционировать в Российской промышленности.</a:t>
            </a:r>
            <a:endParaRPr lang="ru-RU" dirty="0"/>
          </a:p>
          <a:p>
            <a:r>
              <a:rPr lang="en-US" b="1" dirty="0" smtClean="0"/>
              <a:t>    </a:t>
            </a:r>
            <a:r>
              <a:rPr lang="ru-RU" b="1" dirty="0" smtClean="0"/>
              <a:t>Возможные </a:t>
            </a:r>
            <a:r>
              <a:rPr lang="ru-RU" b="1" dirty="0"/>
              <a:t>цели проекта:</a:t>
            </a:r>
            <a:endParaRPr lang="ru-RU" dirty="0"/>
          </a:p>
          <a:p>
            <a:r>
              <a:rPr lang="ru-RU" dirty="0"/>
              <a:t>Создание площадки для общения и обмена опытом между специалистами в сфере АСУ ТП, электротехники и промышленной автоматизации.</a:t>
            </a:r>
          </a:p>
          <a:p>
            <a:r>
              <a:rPr lang="ru-RU" dirty="0"/>
              <a:t>Содействие в решении технических проблем и поиске решений в области автоматизации производства.</a:t>
            </a:r>
          </a:p>
          <a:p>
            <a:r>
              <a:rPr lang="ru-RU" dirty="0"/>
              <a:t>Формирование базы знаний по различным аспектам проектирования, наладки, эксплуатации и модернизации систем управления.</a:t>
            </a:r>
          </a:p>
          <a:p>
            <a:r>
              <a:rPr lang="ru-RU" dirty="0"/>
              <a:t>Поддержка профессионального развития инженеров, студентов и начинающих специалистов через обсуждение практических кейсов и доступ к экспертному мнению.</a:t>
            </a:r>
          </a:p>
          <a:p>
            <a:r>
              <a:rPr lang="ru-RU" dirty="0"/>
              <a:t>Создание сообщества, где участники могут обсуждать актуальные вопросы, включая нормативные требования, стандарты, безопасность систем и новые технологии.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52941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1" y="1484784"/>
            <a:ext cx="5904656" cy="5112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97867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Анализ предметной области / Аналоги </a:t>
            </a:r>
            <a:endParaRPr lang="ru-RU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837880"/>
            <a:ext cx="8280919" cy="33087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1" name="Picture 5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066066"/>
            <a:ext cx="8229600" cy="7508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Заголовок 1"/>
          <p:cNvSpPr txBox="1">
            <a:spLocks/>
          </p:cNvSpPr>
          <p:nvPr/>
        </p:nvSpPr>
        <p:spPr>
          <a:xfrm>
            <a:off x="395537" y="1340768"/>
            <a:ext cx="7632847" cy="779668"/>
          </a:xfrm>
          <a:prstGeom prst="rect">
            <a:avLst/>
          </a:prstGeom>
        </p:spPr>
        <p:txBody>
          <a:bodyPr rIns="91440" anchor="b">
            <a:normAutofit fontScale="97500"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lvl1pPr marL="54864" algn="r" rtl="0" eaLnBrk="1" latinLnBrk="0" hangingPunct="1">
              <a:spcBef>
                <a:spcPct val="0"/>
              </a:spcBef>
              <a:buNone/>
              <a:defRPr kumimoji="0" sz="4600" kern="1200">
                <a:solidFill>
                  <a:schemeClr val="tx2">
                    <a:tint val="100000"/>
                    <a:shade val="90000"/>
                    <a:satMod val="250000"/>
                    <a:alpha val="100000"/>
                  </a:schemeClr>
                </a:solidFill>
                <a:effectLst>
                  <a:outerShdw blurRad="38100" dist="25500" dir="5400000" algn="tl" rotWithShape="0">
                    <a:srgbClr val="000000">
                      <a:satMod val="180000"/>
                      <a:alpha val="7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ru-RU" sz="2000" b="1" dirty="0" smtClean="0">
                <a:effectLst/>
              </a:rPr>
              <a:t>За образец был взят существующий Форум АСУТП </a:t>
            </a:r>
            <a:r>
              <a:rPr lang="en-US" sz="2000" b="1" dirty="0">
                <a:effectLst/>
              </a:rPr>
              <a:t>https://asutpforum.ru/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2454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</a:t>
            </a:r>
            <a:r>
              <a:rPr lang="ru-RU" dirty="0" smtClean="0"/>
              <a:t>иблиотеки </a:t>
            </a:r>
            <a:r>
              <a:rPr lang="ru-RU" dirty="0"/>
              <a:t>или компоненты </a:t>
            </a:r>
            <a:r>
              <a:rPr lang="ru-RU" dirty="0" err="1"/>
              <a:t>Django</a:t>
            </a:r>
            <a:r>
              <a:rPr lang="ru-RU" dirty="0"/>
              <a:t> использовались и зачем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ru-RU" sz="4400" b="1" u="sng" dirty="0" smtClean="0"/>
              <a:t>Встроенные компоненты </a:t>
            </a:r>
            <a:r>
              <a:rPr lang="ru-RU" sz="4400" b="1" u="sng" dirty="0" err="1" smtClean="0"/>
              <a:t>Django</a:t>
            </a:r>
            <a:r>
              <a:rPr lang="ru-RU" sz="4400" b="1" u="sng" dirty="0" smtClean="0"/>
              <a:t> (</a:t>
            </a:r>
            <a:r>
              <a:rPr lang="ru-RU" sz="4400" b="1" u="sng" dirty="0" err="1" smtClean="0"/>
              <a:t>Core</a:t>
            </a:r>
            <a:r>
              <a:rPr lang="ru-RU" sz="4400" b="1" u="sng" dirty="0" smtClean="0"/>
              <a:t>)</a:t>
            </a:r>
          </a:p>
          <a:p>
            <a:endParaRPr lang="ru-RU" sz="4400" b="1" u="sng" dirty="0" smtClean="0"/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Auth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django.contrib.auth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Управление пользователями, сессиями, хеширование паролей и проверка прав доступа (например, разделение на обычных читателей и авторов).</a:t>
            </a:r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Admin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django.contrib.admin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Готовая панель управления для авторов и редакторов. Позволяет быстро добавлять, редактировать и удалять статьи без написания дополнительного кода.</a:t>
            </a:r>
          </a:p>
          <a:p>
            <a:endParaRPr lang="ru-RU" sz="4400" dirty="0"/>
          </a:p>
          <a:p>
            <a:pPr marL="0" indent="0">
              <a:buNone/>
            </a:pPr>
            <a:r>
              <a:rPr lang="ru-RU" sz="4400" b="1" dirty="0" err="1"/>
              <a:t>Django</a:t>
            </a:r>
            <a:r>
              <a:rPr lang="ru-RU" sz="4400" b="1" dirty="0"/>
              <a:t> ORM</a:t>
            </a:r>
            <a:r>
              <a:rPr lang="ru-RU" sz="4400" dirty="0"/>
              <a:t> — это «переводчик» между миром </a:t>
            </a:r>
            <a:r>
              <a:rPr lang="ru-RU" sz="4400" dirty="0" err="1"/>
              <a:t>Python</a:t>
            </a:r>
            <a:r>
              <a:rPr lang="ru-RU" sz="4400" dirty="0"/>
              <a:t> (объектами) и миром баз данных (таблицами SQL). Благодаря ему вам не нужно писать сложные SQL-запросы вручную</a:t>
            </a:r>
            <a:r>
              <a:rPr lang="ru-RU" sz="4400" dirty="0" smtClean="0"/>
              <a:t>.</a:t>
            </a:r>
          </a:p>
          <a:p>
            <a:pPr marL="0" indent="0">
              <a:buNone/>
            </a:pPr>
            <a:r>
              <a:rPr lang="ru-RU" sz="4400" b="1" dirty="0"/>
              <a:t>Зачем</a:t>
            </a:r>
            <a:r>
              <a:rPr lang="ru-RU" sz="4400" dirty="0"/>
              <a:t>: Взаимодействие с базой данных (</a:t>
            </a:r>
            <a:r>
              <a:rPr lang="ru-RU" sz="4400" dirty="0" err="1"/>
              <a:t>SQLite</a:t>
            </a:r>
            <a:r>
              <a:rPr lang="ru-RU" sz="4400" dirty="0"/>
              <a:t>/</a:t>
            </a:r>
            <a:r>
              <a:rPr lang="ru-RU" sz="4400" dirty="0" err="1"/>
              <a:t>PostgreSQL</a:t>
            </a:r>
            <a:r>
              <a:rPr lang="ru-RU" sz="4400" dirty="0"/>
              <a:t>) на языке </a:t>
            </a:r>
            <a:r>
              <a:rPr lang="ru-RU" sz="4400" dirty="0" err="1"/>
              <a:t>Python</a:t>
            </a:r>
            <a:r>
              <a:rPr lang="ru-RU" sz="4400" dirty="0"/>
              <a:t>. Используется для сложных запросов фильтрации и сортировки статей.</a:t>
            </a:r>
          </a:p>
          <a:p>
            <a:pPr marL="338138" indent="0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1</a:t>
            </a:r>
            <a:r>
              <a:rPr lang="ru-RU" sz="4400" b="1" dirty="0"/>
              <a:t>. Модели вместо таблиц</a:t>
            </a:r>
          </a:p>
          <a:p>
            <a:pPr marL="625475">
              <a:buNone/>
            </a:pPr>
            <a:r>
              <a:rPr lang="ru-RU" sz="4400" dirty="0" smtClean="0"/>
              <a:t>     Вместо </a:t>
            </a:r>
            <a:r>
              <a:rPr lang="ru-RU" sz="4400" dirty="0"/>
              <a:t>того чтобы создавать таблицы в базе через консоль, </a:t>
            </a:r>
            <a:r>
              <a:rPr lang="ru-RU" sz="4400" dirty="0" smtClean="0"/>
              <a:t>мы описываем </a:t>
            </a:r>
            <a:r>
              <a:rPr lang="ru-RU" sz="4400" dirty="0"/>
              <a:t>их в models.py.</a:t>
            </a:r>
          </a:p>
          <a:p>
            <a:pPr marL="625475">
              <a:buNone/>
            </a:pPr>
            <a:r>
              <a:rPr lang="ru-RU" sz="4400" b="1" dirty="0" smtClean="0"/>
              <a:t>     Пример</a:t>
            </a:r>
            <a:r>
              <a:rPr lang="ru-RU" sz="4400" b="1" dirty="0"/>
              <a:t>:</a:t>
            </a:r>
            <a:r>
              <a:rPr lang="ru-RU" sz="4400" dirty="0"/>
              <a:t> </a:t>
            </a:r>
            <a:r>
              <a:rPr lang="ru-RU" sz="4400" dirty="0" smtClean="0"/>
              <a:t>класс</a:t>
            </a:r>
            <a:r>
              <a:rPr lang="ru-RU" sz="4400" dirty="0"/>
              <a:t> </a:t>
            </a:r>
            <a:r>
              <a:rPr lang="ru-RU" sz="4400" dirty="0" err="1"/>
              <a:t>Article</a:t>
            </a:r>
            <a:r>
              <a:rPr lang="ru-RU" sz="4400" dirty="0"/>
              <a:t> — это будущая таблица в БД. Каждое поле (</a:t>
            </a:r>
            <a:r>
              <a:rPr lang="ru-RU" sz="4400" dirty="0" err="1"/>
              <a:t>title</a:t>
            </a:r>
            <a:r>
              <a:rPr lang="ru-RU" sz="4400" dirty="0"/>
              <a:t>, </a:t>
            </a:r>
            <a:r>
              <a:rPr lang="ru-RU" sz="4400" dirty="0" err="1"/>
              <a:t>content</a:t>
            </a:r>
            <a:r>
              <a:rPr lang="ru-RU" sz="4400" dirty="0"/>
              <a:t>) — это колонка в этой таблице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2</a:t>
            </a:r>
            <a:r>
              <a:rPr lang="ru-RU" sz="4400" b="1" dirty="0"/>
              <a:t>. </a:t>
            </a:r>
            <a:r>
              <a:rPr lang="ru-RU" sz="4400" b="1" dirty="0" err="1"/>
              <a:t>Python</a:t>
            </a:r>
            <a:r>
              <a:rPr lang="ru-RU" sz="4400" b="1" dirty="0"/>
              <a:t>-синтаксис вместо SQL</a:t>
            </a:r>
          </a:p>
          <a:p>
            <a:pPr marL="625475">
              <a:buNone/>
            </a:pPr>
            <a:r>
              <a:rPr lang="ru-RU" sz="4400" dirty="0" smtClean="0"/>
              <a:t>    ORM </a:t>
            </a:r>
            <a:r>
              <a:rPr lang="ru-RU" sz="4400" dirty="0"/>
              <a:t>позволяет манипулировать данными с помощью обычных методов </a:t>
            </a:r>
            <a:r>
              <a:rPr lang="ru-RU" sz="4400" dirty="0" err="1"/>
              <a:t>Python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3</a:t>
            </a:r>
            <a:r>
              <a:rPr lang="ru-RU" sz="4400" b="1" dirty="0"/>
              <a:t>. Работа со связями (</a:t>
            </a:r>
            <a:r>
              <a:rPr lang="ru-RU" sz="4400" b="1" dirty="0" err="1"/>
              <a:t>Relationships</a:t>
            </a:r>
            <a:r>
              <a:rPr lang="ru-RU" sz="4400" b="1" dirty="0"/>
              <a:t>)</a:t>
            </a:r>
          </a:p>
          <a:p>
            <a:pPr marL="625475">
              <a:buNone/>
            </a:pPr>
            <a:r>
              <a:rPr lang="ru-RU" sz="4400" dirty="0" smtClean="0"/>
              <a:t>    Это </a:t>
            </a:r>
            <a:r>
              <a:rPr lang="ru-RU" sz="4400" dirty="0"/>
              <a:t>самая мощная часть ORM. Она связывает разные таблицы между собой: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ForeignKey</a:t>
            </a:r>
            <a:r>
              <a:rPr lang="ru-RU" sz="4400" dirty="0"/>
              <a:t>: Связывает статью с автором (</a:t>
            </a:r>
            <a:r>
              <a:rPr lang="ru-RU" sz="4400" dirty="0" err="1"/>
              <a:t>User</a:t>
            </a:r>
            <a:r>
              <a:rPr lang="ru-RU" sz="4400" dirty="0"/>
              <a:t>). Вы можете легко получить автора статьи: </a:t>
            </a:r>
            <a:r>
              <a:rPr lang="ru-RU" sz="4400" dirty="0" err="1"/>
              <a:t>article.author.username</a:t>
            </a:r>
            <a:r>
              <a:rPr lang="ru-RU" sz="4400" dirty="0"/>
              <a:t>.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ManyToManyField</a:t>
            </a:r>
            <a:r>
              <a:rPr lang="ru-RU" sz="4400" dirty="0"/>
              <a:t>: Связывает статью с тегами. Одна статья может иметь много тегов, и один тег может быть у </a:t>
            </a:r>
            <a:r>
              <a:rPr lang="ru-RU" sz="4400" dirty="0" smtClean="0"/>
              <a:t>многих статей</a:t>
            </a:r>
            <a:r>
              <a:rPr lang="ru-RU" sz="4400" dirty="0"/>
              <a:t>.</a:t>
            </a:r>
          </a:p>
          <a:p>
            <a:pPr marL="625475"/>
            <a:endParaRPr lang="ru-RU" sz="4400" dirty="0"/>
          </a:p>
          <a:p>
            <a:pPr marL="625475">
              <a:buNone/>
            </a:pPr>
            <a:r>
              <a:rPr lang="ru-RU" sz="4400" b="1" dirty="0"/>
              <a:t>4. Миграции: Контроль версий </a:t>
            </a:r>
            <a:r>
              <a:rPr lang="ru-RU" sz="4400" b="1" dirty="0" smtClean="0"/>
              <a:t>базы</a:t>
            </a:r>
          </a:p>
          <a:p>
            <a:pPr marL="625475">
              <a:buNone/>
            </a:pPr>
            <a:endParaRPr lang="ru-RU" sz="4400" b="1" dirty="0"/>
          </a:p>
          <a:p>
            <a:pPr marL="625475">
              <a:buNone/>
            </a:pPr>
            <a:r>
              <a:rPr lang="ru-RU" sz="4400" b="1" dirty="0" smtClean="0"/>
              <a:t>5</a:t>
            </a:r>
            <a:r>
              <a:rPr lang="ru-RU" sz="4400" b="1" dirty="0"/>
              <a:t>. Безопасность</a:t>
            </a:r>
          </a:p>
          <a:p>
            <a:pPr marL="625475">
              <a:buNone/>
            </a:pPr>
            <a:r>
              <a:rPr lang="ru-RU" sz="4400" dirty="0" err="1"/>
              <a:t>Django</a:t>
            </a:r>
            <a:r>
              <a:rPr lang="ru-RU" sz="4400" dirty="0"/>
              <a:t> ORM автоматически защищает ваш сайт от </a:t>
            </a:r>
            <a:r>
              <a:rPr lang="ru-RU" sz="4400" b="1" dirty="0"/>
              <a:t>SQL-инъекций</a:t>
            </a:r>
            <a:r>
              <a:rPr lang="ru-RU" sz="4400" dirty="0"/>
              <a:t> (популярный вид хакерских атак), потому что она сама правильно «экранирует» все данные, которые пользователи вводят в строку поиска.</a:t>
            </a:r>
          </a:p>
          <a:p>
            <a:pPr marL="625475"/>
            <a:endParaRPr lang="ru-RU" sz="4400" dirty="0" smtClean="0"/>
          </a:p>
          <a:p>
            <a:pPr marL="0" indent="0">
              <a:buNone/>
            </a:pPr>
            <a:r>
              <a:rPr lang="ru-RU" sz="4400" b="1" dirty="0" err="1" smtClean="0"/>
              <a:t>Pagination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django.core.paginator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Разделение длинного списка новостей на страницы , что бы сайт не «тормозил» при наличии сотен статей.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6550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r>
              <a:rPr lang="ru-RU" sz="4000" b="1" dirty="0">
                <a:effectLst/>
              </a:rPr>
              <a:t>Тестирование / </a:t>
            </a:r>
            <a:r>
              <a:rPr lang="ru-RU" sz="4000" b="1" dirty="0" err="1">
                <a:effectLst/>
              </a:rPr>
              <a:t>Валидация</a:t>
            </a:r>
            <a:r>
              <a:rPr lang="ru-RU" sz="4000" b="1" dirty="0">
                <a:effectLst/>
              </a:rPr>
              <a:t> </a:t>
            </a:r>
            <a:endParaRPr lang="ru-RU" sz="40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1050" b="1" dirty="0"/>
              <a:t>1. Тест поиска (</a:t>
            </a:r>
            <a:r>
              <a:rPr lang="ru-RU" sz="1050" b="1" dirty="0" err="1"/>
              <a:t>test_search_form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Создает во временной базе данных две статьи (одну про АСУТП, другую про </a:t>
            </a:r>
            <a:r>
              <a:rPr lang="ru-RU" sz="1050" dirty="0" err="1"/>
              <a:t>Python</a:t>
            </a:r>
            <a:r>
              <a:rPr lang="ru-RU" sz="1050" dirty="0"/>
              <a:t>), имитирует ввод слова «АСУТП» в строку поиска и проверяет, что на странице осталась только нужная статья.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Защищает от поломки систему фильтрации данных. Если вы случайно измените логику фильтрации в файле views.py (например, опечатаетесь в строке </a:t>
            </a:r>
            <a:r>
              <a:rPr lang="ru-RU" sz="1050" dirty="0" err="1"/>
              <a:t>Article.objects.filter</a:t>
            </a:r>
            <a:r>
              <a:rPr lang="ru-RU" sz="1050" dirty="0"/>
              <a:t>(</a:t>
            </a:r>
            <a:r>
              <a:rPr lang="ru-RU" sz="1050" dirty="0" err="1"/>
              <a:t>title</a:t>
            </a:r>
            <a:r>
              <a:rPr lang="ru-RU" sz="1050" dirty="0"/>
              <a:t>__</a:t>
            </a:r>
            <a:r>
              <a:rPr lang="ru-RU" sz="1050" dirty="0" err="1"/>
              <a:t>icontains</a:t>
            </a:r>
            <a:r>
              <a:rPr lang="ru-RU" sz="1050" dirty="0"/>
              <a:t>=</a:t>
            </a:r>
            <a:r>
              <a:rPr lang="ru-RU" sz="1050" dirty="0" err="1"/>
              <a:t>query</a:t>
            </a:r>
            <a:r>
              <a:rPr lang="ru-RU" sz="1050" dirty="0"/>
              <a:t>)), тест тут же упадет. Вы сразу узнаете, что поиск сломан, еще до того, как выложите сайт на сервер.</a:t>
            </a:r>
          </a:p>
          <a:p>
            <a:r>
              <a:rPr lang="ru-RU" sz="1050" b="1" dirty="0"/>
              <a:t>2. Тест сортировки (</a:t>
            </a:r>
            <a:r>
              <a:rPr lang="ru-RU" sz="1050" b="1" dirty="0" err="1"/>
              <a:t>test_sorting_by_date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Создает старую статью (5 дней назад) и свежую статью (сегодня), запрашивает страницу с параметром ?</a:t>
            </a:r>
            <a:r>
              <a:rPr lang="ru-RU" sz="1050" dirty="0" err="1"/>
              <a:t>sort</a:t>
            </a:r>
            <a:r>
              <a:rPr lang="ru-RU" sz="1050" dirty="0"/>
              <a:t>=</a:t>
            </a:r>
            <a:r>
              <a:rPr lang="ru-RU" sz="1050" dirty="0" err="1"/>
              <a:t>date</a:t>
            </a:r>
            <a:r>
              <a:rPr lang="ru-RU" sz="1050" dirty="0"/>
              <a:t> и проверяет по HTML-коду, что свежая статья отобразилась выше старой.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Гарантирует правильный порядок подачи информации. Пользователи ожидают видеть актуальные новости первыми. Если из-за изменений в коде или базе данных сортировка перевернется или сломается, тест покажет это, сохранив удобство интерфейса для ваших читателей.</a:t>
            </a:r>
          </a:p>
          <a:p>
            <a:r>
              <a:rPr lang="ru-RU" sz="1050" b="1" dirty="0"/>
              <a:t>3. Тест пустого списка (</a:t>
            </a:r>
            <a:r>
              <a:rPr lang="ru-RU" sz="1050" b="1" dirty="0" err="1"/>
              <a:t>test_page_empty_list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Запрашивает главную страницу, когда в базе данных нет вообще ни одной статьи, и проверяет, что страница успешно открылась (код 200), а блоки карточек статей (</a:t>
            </a:r>
            <a:r>
              <a:rPr lang="ru-RU" sz="1050" dirty="0" err="1"/>
              <a:t>article-card</a:t>
            </a:r>
            <a:r>
              <a:rPr lang="ru-RU" sz="1050" dirty="0"/>
              <a:t>) отсутствуют.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Страхует сайт от «падения» при запуске. Когда проект только разворачивается на новом сервере или когда все статьи удалены, сайт не должен выдавать «Ошибку 500» из-за того, что цикл {% </a:t>
            </a:r>
            <a:r>
              <a:rPr lang="ru-RU" sz="1050" dirty="0" err="1"/>
              <a:t>for</a:t>
            </a:r>
            <a:r>
              <a:rPr lang="ru-RU" sz="1050" dirty="0"/>
              <a:t> %} пытается обработать пустоту. Тест гарантирует, что пустая страница останется аккуратной, сохранит боковую панель, шапку и подвал.</a:t>
            </a:r>
          </a:p>
          <a:p>
            <a:r>
              <a:rPr lang="ru-RU" sz="1050" b="1" dirty="0"/>
              <a:t>4. Тест отображения закладок (</a:t>
            </a:r>
            <a:r>
              <a:rPr lang="ru-RU" sz="1050" b="1" dirty="0" err="1"/>
              <a:t>test_favorites_icons</a:t>
            </a:r>
            <a:r>
              <a:rPr lang="ru-RU" sz="1050" b="1" dirty="0"/>
              <a:t>...)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Проверяет страницу дважды. Сначала как анонимный гость (убеждается, что иконки закладок скрыты). Затем имитирует авторизацию пользователя и проверяет, что в HTML-коде карточки появилась иконка пустой закладки (</a:t>
            </a:r>
            <a:r>
              <a:rPr lang="ru-RU" sz="1050" dirty="0" err="1"/>
              <a:t>bi-bookmark</a:t>
            </a:r>
            <a:r>
              <a:rPr lang="ru-RU" sz="1050" dirty="0"/>
              <a:t>).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Защищает приватность и безопасность интерфейса. Если анонимный пользователь увидит кнопки избранного, нажатие на них вызовет ошибку, так как у анонима нет личного кабинета. Тест строго следит за тем, чтобы интерфейс подстраивался под статус пользователя и не показывал гостям лишние или нерабочие элементы управления.</a:t>
            </a:r>
          </a:p>
          <a:p>
            <a:r>
              <a:rPr lang="ru-RU" sz="1050" dirty="0" smtClean="0"/>
              <a:t>.</a:t>
            </a:r>
            <a:endParaRPr lang="ru-RU" sz="1050" dirty="0"/>
          </a:p>
        </p:txBody>
      </p:sp>
    </p:spTree>
    <p:extLst>
      <p:ext uri="{BB962C8B-B14F-4D97-AF65-F5344CB8AC3E}">
        <p14:creationId xmlns:p14="http://schemas.microsoft.com/office/powerpoint/2010/main" val="3823710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/>
              <a:t>Какая польза от этих тестов в будущем?</a:t>
            </a:r>
            <a:endParaRPr lang="ru-RU" sz="2400" b="1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457200" y="1484785"/>
            <a:ext cx="8229600" cy="864095"/>
          </a:xfrm>
        </p:spPr>
        <p:txBody>
          <a:bodyPr>
            <a:normAutofit fontScale="25000" lnSpcReduction="20000"/>
          </a:bodyPr>
          <a:lstStyle/>
          <a:p>
            <a:r>
              <a:rPr lang="ru-RU" b="1" dirty="0"/>
              <a:t>Какую пользу приносит:</a:t>
            </a:r>
            <a:r>
              <a:rPr lang="ru-RU" dirty="0"/>
              <a:t> Защищает приватность и безопасность интерфейса. Если анонимный пользователь увидит кнопки избранного, нажатие на них вызовет ошибку, так как у анонима нет личного кабинета. Тест строго следит за тем, чтобы интерфейс подстраивался под статус пользователя и не показывал гостям лишние или нерабочие элементы управления</a:t>
            </a:r>
            <a:r>
              <a:rPr lang="ru-RU" dirty="0" smtClean="0"/>
              <a:t>.</a:t>
            </a:r>
          </a:p>
          <a:p>
            <a:r>
              <a:rPr lang="ru-RU" b="1" dirty="0"/>
              <a:t>Защита от «эффекта домино»:</a:t>
            </a:r>
            <a:r>
              <a:rPr lang="ru-RU" dirty="0"/>
              <a:t> Часто, исправляя код в одном месте (например, в моделях данных), программисты случайно ломают другое место (отображение страниц). Тесты мгновенно это </a:t>
            </a:r>
            <a:r>
              <a:rPr lang="ru-RU" dirty="0" err="1"/>
              <a:t>подсвечивают.</a:t>
            </a:r>
            <a:r>
              <a:rPr lang="ru-RU" b="1" dirty="0" err="1"/>
              <a:t>Смелость</a:t>
            </a:r>
            <a:r>
              <a:rPr lang="ru-RU" b="1" dirty="0"/>
              <a:t> при </a:t>
            </a:r>
            <a:r>
              <a:rPr lang="ru-RU" b="1" dirty="0" err="1"/>
              <a:t>рефакторинге</a:t>
            </a:r>
            <a:r>
              <a:rPr lang="ru-RU" b="1" dirty="0"/>
              <a:t>:</a:t>
            </a:r>
            <a:r>
              <a:rPr lang="ru-RU" dirty="0"/>
              <a:t> Вы можете полностью переписать код в views.py, сделать его быстрее и чище, а затем запустить </a:t>
            </a:r>
            <a:r>
              <a:rPr lang="ru-RU" dirty="0" err="1"/>
              <a:t>pytest</a:t>
            </a:r>
            <a:r>
              <a:rPr lang="ru-RU" dirty="0"/>
              <a:t>. Если загорелось зелёным — вы обновили код и ничего не </a:t>
            </a:r>
            <a:r>
              <a:rPr lang="ru-RU" dirty="0" err="1"/>
              <a:t>сломали.</a:t>
            </a:r>
            <a:r>
              <a:rPr lang="ru-RU" b="1" dirty="0" err="1"/>
              <a:t>Экономия</a:t>
            </a:r>
            <a:r>
              <a:rPr lang="ru-RU" b="1" dirty="0"/>
              <a:t> времени:</a:t>
            </a:r>
            <a:r>
              <a:rPr lang="ru-RU" dirty="0"/>
              <a:t> Ручная проверка этих 4 сценариев в браузере занимает около 2–3 минут (открыть, войти, ввести поиск, проверить, выйти). </a:t>
            </a:r>
            <a:r>
              <a:rPr lang="ru-RU" dirty="0" err="1"/>
              <a:t>pytest</a:t>
            </a:r>
            <a:r>
              <a:rPr lang="ru-RU" dirty="0"/>
              <a:t> сделал это за </a:t>
            </a:r>
            <a:r>
              <a:rPr lang="ru-RU" b="1" dirty="0"/>
              <a:t>2.44 секунды</a:t>
            </a:r>
            <a:r>
              <a:rPr lang="ru-RU" dirty="0"/>
              <a:t>. При росте проекта эта экономия превращается в часы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2950" y="4293096"/>
            <a:ext cx="4032448" cy="2381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29" y="2554089"/>
            <a:ext cx="8164290" cy="1704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05744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260648"/>
            <a:ext cx="8229600" cy="703840"/>
          </a:xfrm>
        </p:spPr>
        <p:txBody>
          <a:bodyPr>
            <a:normAutofit fontScale="90000"/>
          </a:bodyPr>
          <a:lstStyle/>
          <a:p>
            <a:r>
              <a:rPr lang="ru-RU" b="1" u="sng" dirty="0"/>
              <a:t>Инструкция по запуску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052736"/>
            <a:ext cx="8229600" cy="504056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ru-RU" sz="900" u="sng" dirty="0"/>
          </a:p>
          <a:p>
            <a:pPr marL="0" indent="0">
              <a:buNone/>
            </a:pPr>
            <a:r>
              <a:rPr lang="ru-RU" sz="1000" dirty="0"/>
              <a:t>Устанавливаем библиотеку </a:t>
            </a:r>
            <a:r>
              <a:rPr lang="ru-RU" sz="1000" b="1" dirty="0" err="1"/>
              <a:t>pip</a:t>
            </a:r>
            <a:r>
              <a:rPr lang="ru-RU" sz="1000" b="1" dirty="0"/>
              <a:t> </a:t>
            </a:r>
            <a:r>
              <a:rPr lang="ru-RU" sz="1000" b="1" dirty="0" err="1"/>
              <a:t>install</a:t>
            </a:r>
            <a:r>
              <a:rPr lang="ru-RU" sz="1000" b="1" dirty="0"/>
              <a:t> </a:t>
            </a:r>
            <a:r>
              <a:rPr lang="ru-RU" sz="1000" b="1" dirty="0" err="1"/>
              <a:t>Pillow</a:t>
            </a:r>
            <a:endParaRPr lang="ru-RU" sz="1000" b="1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err="1" smtClean="0"/>
              <a:t>Pillow</a:t>
            </a:r>
            <a:r>
              <a:rPr lang="ru-RU" sz="1000" u="sng" dirty="0" smtClean="0"/>
              <a:t> </a:t>
            </a:r>
            <a:r>
              <a:rPr lang="ru-RU" sz="1000" u="sng" dirty="0"/>
              <a:t>играет  </a:t>
            </a:r>
            <a:r>
              <a:rPr lang="ru-RU" sz="1000" u="sng" dirty="0" smtClean="0"/>
              <a:t>роль в  </a:t>
            </a:r>
            <a:r>
              <a:rPr lang="ru-RU" sz="1000" u="sng" dirty="0"/>
              <a:t>коде: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Валидация</a:t>
            </a:r>
            <a:r>
              <a:rPr lang="ru-RU" sz="1000" dirty="0"/>
              <a:t> данных (Проверка)</a:t>
            </a:r>
          </a:p>
          <a:p>
            <a:pPr marL="0" indent="0">
              <a:buNone/>
            </a:pPr>
            <a:r>
              <a:rPr lang="ru-RU" sz="1000" dirty="0" smtClean="0"/>
              <a:t>Библиотека </a:t>
            </a:r>
            <a:r>
              <a:rPr lang="ru-RU" sz="1000" dirty="0"/>
              <a:t>проверяет:</a:t>
            </a:r>
          </a:p>
          <a:p>
            <a:pPr marL="0" indent="0">
              <a:buNone/>
            </a:pPr>
            <a:r>
              <a:rPr lang="ru-RU" sz="1000" dirty="0"/>
              <a:t>Является ли загруженный файл настоящим изображением, а не текстовым файлом с расширением .</a:t>
            </a:r>
            <a:r>
              <a:rPr lang="ru-RU" sz="1000" dirty="0" err="1"/>
              <a:t>jpg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Не поврежден ли файл.</a:t>
            </a:r>
          </a:p>
          <a:p>
            <a:pPr marL="0" indent="0">
              <a:buNone/>
            </a:pPr>
            <a:r>
              <a:rPr lang="ru-RU" sz="1000" dirty="0"/>
              <a:t>Каковы его размеры (ширина и высота).</a:t>
            </a:r>
          </a:p>
          <a:p>
            <a:pPr marL="0" indent="0">
              <a:buNone/>
            </a:pPr>
            <a:r>
              <a:rPr lang="ru-RU" sz="1000" dirty="0"/>
              <a:t>2. Чтение метаданных</a:t>
            </a:r>
          </a:p>
          <a:p>
            <a:pPr marL="0" indent="0">
              <a:buNone/>
            </a:pPr>
            <a:r>
              <a:rPr lang="ru-RU" sz="1000" dirty="0" err="1"/>
              <a:t>Pillow</a:t>
            </a:r>
            <a:r>
              <a:rPr lang="ru-RU" sz="1000" dirty="0"/>
              <a:t> позволяет </a:t>
            </a:r>
            <a:r>
              <a:rPr lang="ru-RU" sz="1000" dirty="0" err="1"/>
              <a:t>Django</a:t>
            </a:r>
            <a:r>
              <a:rPr lang="ru-RU" sz="1000" dirty="0"/>
              <a:t> извлекать информацию о картинке. Например, если вы захотите выводить на сайте разрешение фото или дату съемки из EXIF-данных, </a:t>
            </a:r>
            <a:r>
              <a:rPr lang="ru-RU" sz="1000" dirty="0" err="1"/>
              <a:t>Pillow</a:t>
            </a:r>
            <a:r>
              <a:rPr lang="ru-RU" sz="1000" dirty="0"/>
              <a:t> сделает это за вас</a:t>
            </a:r>
            <a:r>
              <a:rPr lang="ru-RU" sz="1000" dirty="0" smtClean="0"/>
              <a:t>.</a:t>
            </a:r>
          </a:p>
          <a:p>
            <a:pPr marL="0" indent="0">
              <a:buNone/>
            </a:pPr>
            <a:r>
              <a:rPr lang="ru-RU" sz="1000" b="1" dirty="0"/>
              <a:t>Запуск:</a:t>
            </a:r>
            <a:endParaRPr lang="ru-RU" sz="1000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makemigrations</a:t>
            </a:r>
            <a:endParaRPr lang="ru-RU" sz="1000" b="1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migrate</a:t>
            </a:r>
            <a:endParaRPr lang="ru-RU" sz="1000" b="1" dirty="0"/>
          </a:p>
          <a:p>
            <a:pPr marL="0" indent="0">
              <a:buNone/>
            </a:pP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smtClean="0"/>
              <a:t>Роль </a:t>
            </a:r>
            <a:r>
              <a:rPr lang="ru-RU" sz="1000" u="sng" dirty="0" err="1"/>
              <a:t>makemigrations</a:t>
            </a:r>
            <a:r>
              <a:rPr lang="ru-RU" sz="1000" u="sng" dirty="0"/>
              <a:t> и  </a:t>
            </a:r>
            <a:r>
              <a:rPr lang="ru-RU" sz="1000" u="sng" dirty="0" err="1"/>
              <a:t>migrate</a:t>
            </a:r>
            <a:r>
              <a:rPr lang="ru-RU" sz="1000" u="sng" dirty="0"/>
              <a:t> </a:t>
            </a:r>
            <a:r>
              <a:rPr lang="ru-RU" sz="1000" dirty="0"/>
              <a:t>— синхронизировать то, что мы написали в коде (models.py), с тем, что реально хранится в файле базы данных (db.sqlite3).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makemigrations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Создание «инструкции» по обновлению.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сканирует ваши модели и ищет изменения (например, вы добавили поле </a:t>
            </a:r>
            <a:r>
              <a:rPr lang="ru-RU" sz="1000" dirty="0" err="1"/>
              <a:t>image</a:t>
            </a:r>
            <a:r>
              <a:rPr lang="ru-RU" sz="1000" dirty="0"/>
              <a:t> или изменили </a:t>
            </a:r>
            <a:r>
              <a:rPr lang="ru-RU" sz="1000" dirty="0" err="1"/>
              <a:t>max_length</a:t>
            </a:r>
            <a:r>
              <a:rPr lang="ru-RU" sz="1000" dirty="0"/>
              <a:t>).</a:t>
            </a:r>
          </a:p>
          <a:p>
            <a:pPr marL="0" indent="0">
              <a:buNone/>
            </a:pPr>
            <a:r>
              <a:rPr lang="ru-RU" sz="1000" dirty="0"/>
              <a:t>Результат: В папке </a:t>
            </a:r>
            <a:r>
              <a:rPr lang="ru-RU" sz="1000" dirty="0" err="1"/>
              <a:t>migrations</a:t>
            </a:r>
            <a:r>
              <a:rPr lang="ru-RU" sz="1000" dirty="0"/>
              <a:t> внутри вашего приложения появляется новый файл (например, 0002_article_image.py).</a:t>
            </a:r>
          </a:p>
          <a:p>
            <a:pPr marL="0" indent="0">
              <a:buNone/>
            </a:pPr>
            <a:r>
              <a:rPr lang="ru-RU" sz="1000" dirty="0"/>
              <a:t>Простыми словами: Это как чертеж или список покупок, который говорит базе: «Скоро нам нужно будет добавить новый столбец». На этом этапе в самой базе еще ничего не меняется.</a:t>
            </a:r>
          </a:p>
          <a:p>
            <a:pPr marL="0" indent="0">
              <a:buNone/>
            </a:pPr>
            <a:r>
              <a:rPr lang="ru-RU" sz="1000" dirty="0"/>
              <a:t>2.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migrate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Выполнение «инструкции».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берет файлы из папки </a:t>
            </a:r>
            <a:r>
              <a:rPr lang="ru-RU" sz="1000" dirty="0" err="1"/>
              <a:t>migrations</a:t>
            </a:r>
            <a:r>
              <a:rPr lang="ru-RU" sz="1000" dirty="0"/>
              <a:t>, которые еще не были применены, и превращает их в реальные SQL-запросы к базе данных.</a:t>
            </a:r>
          </a:p>
          <a:p>
            <a:pPr marL="0" indent="0">
              <a:buNone/>
            </a:pPr>
            <a:r>
              <a:rPr lang="ru-RU" sz="1000" dirty="0"/>
              <a:t>Результат: В таблице </a:t>
            </a:r>
            <a:r>
              <a:rPr lang="ru-RU" sz="1000" dirty="0" err="1"/>
              <a:t>articles_article</a:t>
            </a:r>
            <a:r>
              <a:rPr lang="ru-RU" sz="1000" dirty="0"/>
              <a:t> физически появляется колонка </a:t>
            </a:r>
            <a:r>
              <a:rPr lang="ru-RU" sz="1000" dirty="0" err="1"/>
              <a:t>image</a:t>
            </a:r>
            <a:r>
              <a:rPr lang="ru-RU" sz="1000" dirty="0"/>
              <a:t>. </a:t>
            </a:r>
            <a:endParaRPr lang="ru-RU" sz="1000" dirty="0" smtClean="0"/>
          </a:p>
          <a:p>
            <a:pPr marL="0" indent="0">
              <a:buNone/>
            </a:pPr>
            <a:r>
              <a:rPr lang="ru-RU" sz="1000" dirty="0" smtClean="0"/>
              <a:t>Простыми </a:t>
            </a:r>
            <a:r>
              <a:rPr lang="ru-RU" sz="1000" dirty="0"/>
              <a:t>словами: Это строитель, который берет чертеж из первого шага и реально перестраивает стену (базу данных</a:t>
            </a:r>
            <a:r>
              <a:rPr lang="ru-RU" sz="1000" dirty="0" smtClean="0"/>
              <a:t>).</a:t>
            </a:r>
          </a:p>
          <a:p>
            <a:pPr marL="0" indent="0">
              <a:buNone/>
            </a:pPr>
            <a:r>
              <a:rPr lang="ru-RU" sz="1000" b="1" dirty="0" smtClean="0"/>
              <a:t>Запуск: </a:t>
            </a:r>
            <a:r>
              <a:rPr lang="ru-RU" sz="1000" b="1" dirty="0" err="1" smtClean="0"/>
              <a:t>python</a:t>
            </a:r>
            <a:r>
              <a:rPr lang="ru-RU" sz="1000" b="1" dirty="0" smtClean="0"/>
              <a:t> manage.py </a:t>
            </a:r>
            <a:r>
              <a:rPr lang="ru-RU" sz="1000" b="1" dirty="0" err="1" smtClean="0"/>
              <a:t>runserver</a:t>
            </a:r>
            <a:endParaRPr lang="ru-RU" sz="1000" b="1" dirty="0" smtClean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dirty="0"/>
              <a:t>Регистрироваться можно прямо с сайта "</a:t>
            </a:r>
            <a:r>
              <a:rPr lang="ru-RU" sz="1000" dirty="0" err="1"/>
              <a:t>article</a:t>
            </a:r>
            <a:r>
              <a:rPr lang="ru-RU" sz="1000" dirty="0"/>
              <a:t>", не через  /</a:t>
            </a:r>
            <a:r>
              <a:rPr lang="ru-RU" sz="1000" dirty="0" err="1"/>
              <a:t>admin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Статьи добавляются через /</a:t>
            </a:r>
            <a:r>
              <a:rPr lang="ru-RU" sz="1000" dirty="0" err="1"/>
              <a:t>admin</a:t>
            </a:r>
            <a:r>
              <a:rPr lang="ru-RU" sz="1000" dirty="0" smtClean="0"/>
              <a:t>.</a:t>
            </a:r>
          </a:p>
          <a:p>
            <a:r>
              <a:rPr lang="ru-RU" sz="1000" dirty="0"/>
              <a:t>Запуск тестов</a:t>
            </a:r>
            <a:r>
              <a:rPr lang="en-US" sz="1000" dirty="0"/>
              <a:t>: python -m </a:t>
            </a:r>
            <a:r>
              <a:rPr lang="en-US" sz="1000" dirty="0" err="1"/>
              <a:t>pytest</a:t>
            </a:r>
            <a:r>
              <a:rPr lang="en-US" sz="1000" dirty="0"/>
              <a:t> --ds=</a:t>
            </a:r>
            <a:r>
              <a:rPr lang="en-US" sz="1000" dirty="0" err="1"/>
              <a:t>myproject.settings</a:t>
            </a:r>
            <a:r>
              <a:rPr lang="en-US" sz="1000" dirty="0"/>
              <a:t> -v</a:t>
            </a: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endParaRPr lang="ru-RU" sz="1000" dirty="0" smtClean="0"/>
          </a:p>
          <a:p>
            <a:pPr marL="0" indent="0">
              <a:buNone/>
            </a:pP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355040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Бизнес задача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    </a:t>
            </a:r>
            <a:r>
              <a:rPr lang="ru-RU" i="1" u="sng" dirty="0" smtClean="0"/>
              <a:t>Программа </a:t>
            </a:r>
            <a:r>
              <a:rPr lang="ru-RU" i="1" u="sng" dirty="0"/>
              <a:t>автоматизирует процесс публикации и распространения контента. Она позволяет компании или сообществу:</a:t>
            </a:r>
          </a:p>
          <a:p>
            <a:r>
              <a:rPr lang="ru-RU" dirty="0"/>
              <a:t>Централизованно информировать аудиторию (новости, статьи, анонсы).</a:t>
            </a:r>
          </a:p>
          <a:p>
            <a:r>
              <a:rPr lang="ru-RU" dirty="0"/>
              <a:t>Повышать вовлеченность через систему комментариев и тегов.</a:t>
            </a:r>
          </a:p>
          <a:p>
            <a:r>
              <a:rPr lang="ru-RU" dirty="0"/>
              <a:t>Персонализировать опыт пользователя (возможность сохранять статьи в «Избранное»).</a:t>
            </a:r>
          </a:p>
          <a:p>
            <a:r>
              <a:rPr lang="ru-RU" dirty="0"/>
              <a:t>Разграничивать права: только доверенные лица (админы) создают контент, а пользователи его потребляют и обсуждают.</a:t>
            </a:r>
          </a:p>
        </p:txBody>
      </p:sp>
    </p:spTree>
    <p:extLst>
      <p:ext uri="{BB962C8B-B14F-4D97-AF65-F5344CB8AC3E}">
        <p14:creationId xmlns:p14="http://schemas.microsoft.com/office/powerpoint/2010/main" val="2130190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E:\TOP\Pandas\mini-проект\Демонстрация\вход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38" y="1811338"/>
            <a:ext cx="7029722" cy="258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3485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912" y="1799578"/>
            <a:ext cx="8491559" cy="44823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56079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Регистрация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204864"/>
            <a:ext cx="8341337" cy="377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55227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Литейная">
  <a:themeElements>
    <a:clrScheme name="Литейная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Литейная">
      <a:maj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Литей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5000"/>
                <a:satMod val="400000"/>
              </a:schemeClr>
            </a:gs>
            <a:gs pos="20000">
              <a:schemeClr val="phClr">
                <a:tint val="80000"/>
                <a:satMod val="355000"/>
              </a:schemeClr>
            </a:gs>
            <a:gs pos="100000">
              <a:schemeClr val="phClr">
                <a:tint val="95000"/>
                <a:shade val="55000"/>
                <a:satMod val="355000"/>
              </a:schemeClr>
            </a:gs>
          </a:gsLst>
          <a:path path="circle">
            <a:fillToRect l="67500" t="35000" r="32500" b="65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250000"/>
              </a:schemeClr>
            </a:duotone>
          </a:blip>
          <a:tile tx="0" ty="0" sx="50000" sy="50000" flip="none" algn="t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Foundry</Template>
  <TotalTime>281</TotalTime>
  <Words>1106</Words>
  <Application>Microsoft Office PowerPoint</Application>
  <PresentationFormat>Экран (4:3)</PresentationFormat>
  <Paragraphs>119</Paragraphs>
  <Slides>14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Литейная</vt:lpstr>
      <vt:lpstr>Блог/новостной портал АСУТП с авторизацией</vt:lpstr>
      <vt:lpstr>Презентация PowerPoint</vt:lpstr>
      <vt:lpstr>Описание проекта</vt:lpstr>
      <vt:lpstr>Постановка задачи / Проблематика </vt:lpstr>
      <vt:lpstr>Постановка задачи / Проблематика </vt:lpstr>
      <vt:lpstr>Анализ предметной области / Аналоги </vt:lpstr>
      <vt:lpstr>Библиотеки или компоненты Django использовались и зачем</vt:lpstr>
      <vt:lpstr>Тестирование / Валидация </vt:lpstr>
      <vt:lpstr>Какая польза от этих тестов в будущем?</vt:lpstr>
      <vt:lpstr>Инструкция по запуску</vt:lpstr>
      <vt:lpstr>Бизнес задача</vt:lpstr>
      <vt:lpstr>Презентация PowerPoint</vt:lpstr>
      <vt:lpstr>Презентация PowerPoint</vt:lpstr>
      <vt:lpstr>Регистрация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Новостной портал</dc:title>
  <dc:creator>Lera</dc:creator>
  <cp:lastModifiedBy>Lera</cp:lastModifiedBy>
  <cp:revision>24</cp:revision>
  <dcterms:created xsi:type="dcterms:W3CDTF">2026-03-28T08:39:26Z</dcterms:created>
  <dcterms:modified xsi:type="dcterms:W3CDTF">2026-06-13T10:03:44Z</dcterms:modified>
</cp:coreProperties>
</file>