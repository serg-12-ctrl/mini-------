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64" r:id="rId8"/>
    <p:sldId id="271" r:id="rId9"/>
    <p:sldId id="272" r:id="rId10"/>
    <p:sldId id="265" r:id="rId11"/>
    <p:sldId id="262" r:id="rId12"/>
    <p:sldId id="257" r:id="rId13"/>
    <p:sldId id="258" r:id="rId14"/>
    <p:sldId id="259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apl.ru/ru/asutpforum.ru/" TargetMode="External"/><Relationship Id="rId2" Type="http://schemas.openxmlformats.org/officeDocument/2006/relationships/hyperlink" Target="https://asutpforum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sutpforum.ru/viewforum.php?f=16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</a:t>
            </a:r>
            <a:r>
              <a:rPr lang="ru-RU" b="1" dirty="0" smtClean="0"/>
              <a:t>АСУТП с </a:t>
            </a:r>
            <a:r>
              <a:rPr lang="ru-RU" b="1" dirty="0" smtClean="0"/>
              <a:t>авторизацией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286000" y="4797152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Имя</a:t>
            </a:r>
            <a:r>
              <a:rPr lang="en-US" b="1" dirty="0" smtClean="0"/>
              <a:t>: </a:t>
            </a:r>
            <a:r>
              <a:rPr lang="ru-RU" b="1" dirty="0" smtClean="0"/>
              <a:t>Сергей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2656"/>
            <a:ext cx="8208912" cy="6120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</a:t>
            </a:r>
            <a:r>
              <a:rPr lang="ru-RU" dirty="0" smtClean="0"/>
              <a:t>новостей АСУТП для </a:t>
            </a:r>
            <a:r>
              <a:rPr lang="ru-RU" dirty="0"/>
              <a:t>публикации </a:t>
            </a:r>
            <a:r>
              <a:rPr lang="ru-RU" dirty="0" smtClean="0"/>
              <a:t>инженерами АСУТП контента </a:t>
            </a:r>
            <a:r>
              <a:rPr lang="ru-RU" dirty="0"/>
              <a:t>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dirty="0"/>
              <a:t>Основная задача форума — создать пространство, где инженеры, программисты, технические писатели и другие специалисты по АСУТП (автоматизированным системам управления технологическими процессами) могут:</a:t>
            </a:r>
          </a:p>
          <a:p>
            <a:r>
              <a:rPr lang="ru-RU" b="1" dirty="0"/>
              <a:t>Обсуждать сложные технические вопросы.</a:t>
            </a:r>
            <a:r>
              <a:rPr lang="ru-RU" dirty="0"/>
              <a:t> Участники делятся опытом, разбирают ошибки и ищут решения проблем, связанных с программируемыми логическими контроллерами (ПЛК), SCADA-системами, сетевым оборудованием (например, </a:t>
            </a:r>
            <a:r>
              <a:rPr lang="ru-RU" dirty="0" err="1"/>
              <a:t>Profibus</a:t>
            </a:r>
            <a:r>
              <a:rPr lang="ru-RU" dirty="0"/>
              <a:t>, </a:t>
            </a:r>
            <a:r>
              <a:rPr lang="ru-RU" dirty="0" err="1"/>
              <a:t>Modbus</a:t>
            </a:r>
            <a:r>
              <a:rPr lang="ru-RU" dirty="0"/>
              <a:t>), языками программирования для ПЛК и их интеграцией с человеко-машинными интерфейсами (HMI). </a:t>
            </a:r>
            <a:r>
              <a:rPr lang="ru-RU" dirty="0">
                <a:hlinkClick r:id="rId2"/>
              </a:rPr>
              <a:t>asutpforum.ru</a:t>
            </a:r>
            <a:r>
              <a:rPr lang="ru-RU" dirty="0">
                <a:hlinkClick r:id="rId3"/>
              </a:rPr>
              <a:t>yapl.ru</a:t>
            </a:r>
            <a:r>
              <a:rPr lang="ru-RU" dirty="0">
                <a:hlinkClick r:id="rId4"/>
              </a:rPr>
              <a:t>asutpforum.ru</a:t>
            </a:r>
            <a:endParaRPr lang="ru-RU" dirty="0"/>
          </a:p>
          <a:p>
            <a:r>
              <a:rPr lang="ru-RU" b="1" dirty="0"/>
              <a:t>Сравнивать подходы и решения.</a:t>
            </a:r>
            <a:r>
              <a:rPr lang="ru-RU" dirty="0"/>
              <a:t> Можно узнать, как коллеги решают схожие задачи с оборудованием разных производителей (</a:t>
            </a:r>
            <a:r>
              <a:rPr lang="ru-RU" dirty="0" err="1"/>
              <a:t>Siemens</a:t>
            </a:r>
            <a:r>
              <a:rPr lang="ru-RU" dirty="0"/>
              <a:t>, </a:t>
            </a:r>
            <a:r>
              <a:rPr lang="ru-RU" dirty="0" err="1"/>
              <a:t>Schneider</a:t>
            </a:r>
            <a:r>
              <a:rPr lang="ru-RU" dirty="0"/>
              <a:t> </a:t>
            </a:r>
            <a:r>
              <a:rPr lang="ru-RU" dirty="0" err="1"/>
              <a:t>Electric</a:t>
            </a:r>
            <a:r>
              <a:rPr lang="ru-RU" dirty="0"/>
              <a:t>, ОВЕН и др.).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b="1" dirty="0"/>
              <a:t>Находить готовые решения и FAQ.</a:t>
            </a:r>
            <a:r>
              <a:rPr lang="ru-RU" dirty="0"/>
              <a:t> На форуме есть разделы с часто задаваемыми вопросами (FAQ), которые помогают быстро получить ответ на типовые технические проблемы. </a:t>
            </a:r>
            <a:r>
              <a:rPr lang="ru-RU" dirty="0">
                <a:hlinkClick r:id="rId2"/>
              </a:rPr>
              <a:t>asutpforum.ru</a:t>
            </a:r>
            <a:endParaRPr lang="ru-RU" dirty="0"/>
          </a:p>
          <a:p>
            <a:r>
              <a:rPr lang="ru-RU" b="1" dirty="0"/>
              <a:t>Поддерживать профессиональное сообщество.</a:t>
            </a:r>
            <a:r>
              <a:rPr lang="ru-RU" dirty="0"/>
              <a:t> Форум объединяет специалистов, позволяя им оставаться в курсе отраслевых трендов и оперативно обмениваться знаниями.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dirty="0"/>
              <a:t>Таким образом, площадка помогает преодолеть разобщённость: вместо того чтобы искать разрозненную информацию по разным источникам, участники могут оперативно получить помощь от коллег. Это особенно важно в такой технически сложной и динамичной сфере, как промышленная автоматизация.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/>
              <a:t> </a:t>
            </a:r>
            <a:r>
              <a:rPr lang="ru-RU" dirty="0" smtClean="0"/>
              <a:t>    Это</a:t>
            </a:r>
            <a:r>
              <a:rPr lang="ru-RU" dirty="0"/>
              <a:t> форум для специалистов в области АСУ ТП (автоматизированных систем управления технологическими процессами), электротехники и промышленной автоматизации.</a:t>
            </a:r>
          </a:p>
          <a:p>
            <a:pPr marL="536575" indent="-536575"/>
            <a:r>
              <a:rPr lang="ru-RU" b="1" dirty="0"/>
              <a:t>Какие проблемы помогает </a:t>
            </a:r>
            <a:r>
              <a:rPr lang="ru-RU" b="1" dirty="0" smtClean="0"/>
              <a:t>решить</a:t>
            </a:r>
            <a:r>
              <a:rPr lang="en-US" b="1" dirty="0" smtClean="0"/>
              <a:t>:</a:t>
            </a:r>
            <a:endParaRPr lang="ru-RU" b="1" dirty="0"/>
          </a:p>
          <a:p>
            <a:r>
              <a:rPr lang="ru-RU" dirty="0"/>
              <a:t>Форум закрывает сразу несколько задач:</a:t>
            </a:r>
          </a:p>
          <a:p>
            <a:r>
              <a:rPr lang="en-US" b="1" dirty="0" smtClean="0"/>
              <a:t>     </a:t>
            </a:r>
            <a:r>
              <a:rPr lang="ru-RU" b="1" dirty="0" smtClean="0"/>
              <a:t>Поиск</a:t>
            </a:r>
            <a:r>
              <a:rPr lang="ru-RU" b="1" dirty="0"/>
              <a:t> решений технических проблем.</a:t>
            </a:r>
            <a:r>
              <a:rPr lang="ru-RU" dirty="0"/>
              <a:t> На форуме разбирают сбои и нюансы работы оборудования и ПО — например, проблемы с SCADA-системами, ПЛК (программируемыми логическими контроллерами), интерфейсами и протоколами связи.</a:t>
            </a:r>
          </a:p>
          <a:p>
            <a:r>
              <a:rPr lang="en-US" b="1" dirty="0" smtClean="0"/>
              <a:t>           </a:t>
            </a:r>
            <a:r>
              <a:rPr lang="ru-RU" b="1" dirty="0" smtClean="0"/>
              <a:t>Обмен</a:t>
            </a:r>
            <a:r>
              <a:rPr lang="ru-RU" b="1" dirty="0"/>
              <a:t> опытом по оборудованию и софту.</a:t>
            </a:r>
            <a:r>
              <a:rPr lang="ru-RU" dirty="0"/>
              <a:t> Обсуждают решения на базе </a:t>
            </a:r>
            <a:r>
              <a:rPr lang="ru-RU" dirty="0" err="1"/>
              <a:t>Siemens</a:t>
            </a:r>
            <a:r>
              <a:rPr lang="ru-RU" dirty="0"/>
              <a:t>, </a:t>
            </a:r>
            <a:r>
              <a:rPr lang="ru-RU" dirty="0" err="1"/>
              <a:t>Beckhoff</a:t>
            </a:r>
            <a:r>
              <a:rPr lang="ru-RU" dirty="0"/>
              <a:t>, ОВЕН, </a:t>
            </a:r>
            <a:r>
              <a:rPr lang="ru-RU" dirty="0" err="1"/>
              <a:t>DeltaV</a:t>
            </a:r>
            <a:r>
              <a:rPr lang="ru-RU" dirty="0"/>
              <a:t>, </a:t>
            </a:r>
            <a:r>
              <a:rPr lang="ru-RU" dirty="0" err="1"/>
              <a:t>Mitsubishi</a:t>
            </a:r>
            <a:r>
              <a:rPr lang="ru-RU" dirty="0"/>
              <a:t> и др., а также работу в средах типа TIA </a:t>
            </a:r>
            <a:r>
              <a:rPr lang="ru-RU" dirty="0" err="1"/>
              <a:t>Portal</a:t>
            </a:r>
            <a:r>
              <a:rPr lang="ru-RU" dirty="0"/>
              <a:t>, EPLAN и т. п.</a:t>
            </a:r>
          </a:p>
          <a:p>
            <a:r>
              <a:rPr lang="ru-RU" b="1" dirty="0"/>
              <a:t>Консультации по проектированию и наладке.</a:t>
            </a:r>
            <a:r>
              <a:rPr lang="ru-RU" dirty="0"/>
              <a:t> Участники помогают с выбором компонентов, </a:t>
            </a:r>
            <a:r>
              <a:rPr lang="ru-RU" dirty="0" err="1"/>
              <a:t>схемотехникой</a:t>
            </a:r>
            <a:r>
              <a:rPr lang="ru-RU" dirty="0"/>
              <a:t>, настройкой алгоритмов управления, вопросами КИП (контрольно-измерительных приборов).</a:t>
            </a:r>
          </a:p>
          <a:p>
            <a:r>
              <a:rPr lang="ru-RU" b="1" dirty="0"/>
              <a:t>Разбор нормативных и проектных вопросов.</a:t>
            </a:r>
            <a:r>
              <a:rPr lang="ru-RU" dirty="0"/>
              <a:t> </a:t>
            </a:r>
            <a:r>
              <a:rPr lang="ru-RU" dirty="0" smtClean="0"/>
              <a:t>  </a:t>
            </a:r>
            <a:r>
              <a:rPr lang="ru-RU" dirty="0"/>
              <a:t>Цели и задачи проекта: Формулировка целей и конкретных задач, которые были поставлены перед началом работы.</a:t>
            </a:r>
          </a:p>
          <a:p>
            <a:endParaRPr lang="ru-RU" b="1" dirty="0"/>
          </a:p>
          <a:p>
            <a:r>
              <a:rPr lang="en-US" dirty="0" smtClean="0"/>
              <a:t>     </a:t>
            </a:r>
            <a:r>
              <a:rPr lang="ru-RU" dirty="0" smtClean="0"/>
              <a:t>Создание Новостного портала АСУТП </a:t>
            </a:r>
            <a:r>
              <a:rPr lang="ru-RU" dirty="0"/>
              <a:t>было направлено на решение ряда задач, связанных с потребностями профессионального сообщества в области АСУ ТП (автоматизированных систем управления технологическими процессами) и промышленной автоматизации</a:t>
            </a:r>
            <a:r>
              <a:rPr lang="ru-RU" dirty="0" smtClean="0"/>
              <a:t>. Что крайне не обходимо в последнее время в связи с санкциями в области АСУТП, которые были запущенны западными странами против России. Многие ведущие мировые бренды такие как </a:t>
            </a:r>
            <a:r>
              <a:rPr lang="en-US" dirty="0" smtClean="0"/>
              <a:t>Siemens, Yokogawa, Honeywell </a:t>
            </a:r>
            <a:r>
              <a:rPr lang="ru-RU" dirty="0" smtClean="0"/>
              <a:t>и другие ушли с Российского рынка, прекратили техническую поддержку хотя оборудование этих брендов продолжает функционировать в Российской промышленности.</a:t>
            </a:r>
            <a:endParaRPr lang="ru-RU" dirty="0"/>
          </a:p>
          <a:p>
            <a:r>
              <a:rPr lang="en-US" b="1" dirty="0" smtClean="0"/>
              <a:t>    </a:t>
            </a:r>
            <a:r>
              <a:rPr lang="ru-RU" b="1" dirty="0" smtClean="0"/>
              <a:t>Возможные </a:t>
            </a:r>
            <a:r>
              <a:rPr lang="ru-RU" b="1" dirty="0"/>
              <a:t>цели проекта:</a:t>
            </a:r>
            <a:endParaRPr lang="ru-RU" dirty="0"/>
          </a:p>
          <a:p>
            <a:r>
              <a:rPr lang="ru-RU" dirty="0"/>
              <a:t>Создание площадки для общения и обмена опытом между специалистами в сфере АСУ ТП, электротехники и промышленной автоматизации.</a:t>
            </a:r>
          </a:p>
          <a:p>
            <a:r>
              <a:rPr lang="ru-RU" dirty="0"/>
              <a:t>Содействие в решении технических проблем и поиске решений в области автоматизации производства.</a:t>
            </a:r>
          </a:p>
          <a:p>
            <a:r>
              <a:rPr lang="ru-RU" dirty="0"/>
              <a:t>Формирование базы знаний по различным аспектам проектирования, наладки, эксплуатации и модернизации систем управления.</a:t>
            </a:r>
          </a:p>
          <a:p>
            <a:r>
              <a:rPr lang="ru-RU" dirty="0"/>
              <a:t>Поддержка профессионального развития инженеров, студентов и начинающих специалистов через обсуждение практических кейсов и доступ к экспертному мнению.</a:t>
            </a:r>
          </a:p>
          <a:p>
            <a:r>
              <a:rPr lang="ru-RU" dirty="0"/>
              <a:t>Создание сообщества, где участники могут обсуждать актуальные вопросы, включая нормативные требования, стандарты, безопасность систем и новые технологии.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2941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484784"/>
            <a:ext cx="5904656" cy="511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7867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Анализ предметной области / Аналоги 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837880"/>
            <a:ext cx="8280919" cy="330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066066"/>
            <a:ext cx="8229600" cy="750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Заголовок 1"/>
          <p:cNvSpPr txBox="1">
            <a:spLocks/>
          </p:cNvSpPr>
          <p:nvPr/>
        </p:nvSpPr>
        <p:spPr>
          <a:xfrm>
            <a:off x="395537" y="1340768"/>
            <a:ext cx="7632847" cy="779668"/>
          </a:xfrm>
          <a:prstGeom prst="rect">
            <a:avLst/>
          </a:prstGeom>
        </p:spPr>
        <p:txBody>
          <a:bodyPr rIns="91440" anchor="b">
            <a:normAutofit fontScale="97500"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lvl1pPr marL="54864" algn="r" rtl="0" eaLnBrk="1" latinLnBrk="0" hangingPunct="1">
              <a:spcBef>
                <a:spcPct val="0"/>
              </a:spcBef>
              <a:buNone/>
              <a:defRPr kumimoji="0" sz="4600" kern="1200">
                <a:solidFill>
                  <a:schemeClr val="tx2">
                    <a:tint val="100000"/>
                    <a:shade val="90000"/>
                    <a:satMod val="250000"/>
                    <a:alpha val="100000"/>
                  </a:schemeClr>
                </a:solidFill>
                <a:effectLst>
                  <a:outerShdw blurRad="38100" dist="25500" dir="5400000" algn="tl" rotWithShape="0">
                    <a:srgbClr val="000000">
                      <a:satMod val="180000"/>
                      <a:alpha val="7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ru-RU" sz="2000" b="1" dirty="0" smtClean="0">
                <a:effectLst/>
              </a:rPr>
              <a:t>За образец был взят существующий Форум АСУТП </a:t>
            </a:r>
            <a:r>
              <a:rPr lang="en-US" sz="2000" b="1" dirty="0">
                <a:effectLst/>
              </a:rPr>
              <a:t>https://asutpforum.ru/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454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>
              <a:buNone/>
            </a:pPr>
            <a:r>
              <a:rPr lang="ru-RU" sz="4400" b="1" dirty="0" smtClean="0"/>
              <a:t>5</a:t>
            </a:r>
            <a:r>
              <a:rPr lang="ru-RU" sz="4400" b="1" dirty="0"/>
              <a:t>. Безопасность</a:t>
            </a:r>
          </a:p>
          <a:p>
            <a:pPr marL="625475">
              <a:buNone/>
            </a:pPr>
            <a:r>
              <a:rPr lang="ru-RU" sz="4400" dirty="0" err="1"/>
              <a:t>Django</a:t>
            </a:r>
            <a:r>
              <a:rPr lang="ru-RU" sz="4400" dirty="0"/>
              <a:t> ORM автоматически защищает ваш сайт от </a:t>
            </a:r>
            <a:r>
              <a:rPr lang="ru-RU" sz="4400" b="1" dirty="0"/>
              <a:t>SQL-инъекций</a:t>
            </a:r>
            <a:r>
              <a:rPr lang="ru-RU" sz="4400" dirty="0"/>
              <a:t> (популярный вид хакерских атак), потому что она сама правильно «экранирует» все данные, которые пользователи вводят в строку поиска.</a:t>
            </a:r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, что бы сайт 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r>
              <a:rPr lang="ru-RU" sz="4000" b="1" dirty="0">
                <a:effectLst/>
              </a:rPr>
              <a:t>Тестирование / </a:t>
            </a:r>
            <a:r>
              <a:rPr lang="ru-RU" sz="4000" b="1" dirty="0" err="1">
                <a:effectLst/>
              </a:rPr>
              <a:t>Валидация</a:t>
            </a:r>
            <a:r>
              <a:rPr lang="ru-RU" sz="4000" b="1" dirty="0">
                <a:effectLst/>
              </a:rPr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050" b="1" dirty="0"/>
              <a:t>1. Тест </a:t>
            </a:r>
            <a:r>
              <a:rPr lang="ru-RU" sz="1050" b="1" dirty="0" err="1"/>
              <a:t>test_page_with_items</a:t>
            </a:r>
            <a:r>
              <a:rPr lang="ru-RU" sz="1050" b="1" dirty="0"/>
              <a:t> (Проверка с созданными статьями)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Мы принудительно создаем одну статью (</a:t>
            </a:r>
            <a:r>
              <a:rPr lang="ru-RU" sz="1050" dirty="0" err="1"/>
              <a:t>Article.objects.create</a:t>
            </a:r>
            <a:r>
              <a:rPr lang="ru-RU" sz="1050" dirty="0"/>
              <a:t>) прямо в тестовой (временной) базе данных.</a:t>
            </a:r>
          </a:p>
          <a:p>
            <a:r>
              <a:rPr lang="ru-RU" sz="1050" b="1" dirty="0"/>
              <a:t>В чём заключается проверка:</a:t>
            </a:r>
            <a:r>
              <a:rPr lang="ru-RU" sz="1050" dirty="0"/>
              <a:t> Мы отправляем виртуальный запрос на страницу и проверяем, что </a:t>
            </a:r>
            <a:r>
              <a:rPr lang="ru-RU" sz="1050" dirty="0" err="1"/>
              <a:t>Django</a:t>
            </a:r>
            <a:r>
              <a:rPr lang="ru-RU" sz="1050" dirty="0"/>
              <a:t> успешно взял эту статью из базы, передал в шаблон и </a:t>
            </a:r>
            <a:r>
              <a:rPr lang="ru-RU" sz="1050" dirty="0" err="1"/>
              <a:t>отрендерил</a:t>
            </a:r>
            <a:r>
              <a:rPr lang="ru-RU" sz="1050" dirty="0"/>
              <a:t> её HTML-код. Тест ищет на странице класс </a:t>
            </a:r>
            <a:r>
              <a:rPr lang="ru-RU" sz="1050" dirty="0" err="1"/>
              <a:t>article-card</a:t>
            </a:r>
            <a:r>
              <a:rPr lang="ru-RU" sz="1050" dirty="0"/>
              <a:t> и текст «Уникальный заголовок АСУТП».</a:t>
            </a:r>
          </a:p>
          <a:p>
            <a:r>
              <a:rPr lang="ru-RU" sz="1050" b="1" dirty="0"/>
              <a:t>Зачем это нужно:</a:t>
            </a:r>
            <a:r>
              <a:rPr lang="ru-RU" sz="1050" dirty="0"/>
              <a:t> Это гарантирует, что если в реальной базе будут статьи, сайт не выдаст ошибку и карточки новостей отобразятся корректно.</a:t>
            </a:r>
          </a:p>
          <a:p>
            <a:r>
              <a:rPr lang="ru-RU" sz="1050" b="1" dirty="0"/>
              <a:t>2. Тест </a:t>
            </a:r>
            <a:r>
              <a:rPr lang="ru-RU" sz="1050" b="1" dirty="0" err="1"/>
              <a:t>test_page_empty_list</a:t>
            </a:r>
            <a:r>
              <a:rPr lang="ru-RU" sz="1050" b="1" dirty="0"/>
              <a:t> (Проверка без статей)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Мы запускаем тест, оставляя тестовую базу данных абсолютно пустой.</a:t>
            </a:r>
          </a:p>
          <a:p>
            <a:r>
              <a:rPr lang="ru-RU" sz="1050" b="1" dirty="0"/>
              <a:t>В чём заключается проверка:</a:t>
            </a:r>
            <a:r>
              <a:rPr lang="ru-RU" sz="1050" dirty="0"/>
              <a:t> Мы проверяем, что страница открывается без ошибок (код 200 OK), но на ней </a:t>
            </a:r>
            <a:r>
              <a:rPr lang="ru-RU" sz="1050" b="1" dirty="0"/>
              <a:t>нет</a:t>
            </a:r>
            <a:r>
              <a:rPr lang="ru-RU" sz="1050" dirty="0"/>
              <a:t> ни одной карточки статьи (тест проверяет, что класс </a:t>
            </a:r>
            <a:r>
              <a:rPr lang="ru-RU" sz="1050" dirty="0" err="1"/>
              <a:t>article-card</a:t>
            </a:r>
            <a:r>
              <a:rPr lang="ru-RU" sz="1050" dirty="0"/>
              <a:t> отсутствует в HTML-коде страницы).</a:t>
            </a:r>
          </a:p>
          <a:p>
            <a:r>
              <a:rPr lang="ru-RU" sz="1050" b="1" dirty="0"/>
              <a:t>Зачем это нужно:</a:t>
            </a:r>
            <a:r>
              <a:rPr lang="ru-RU" sz="1050" dirty="0"/>
              <a:t> Это гарантирует, что когда сайт только запущен или пользователь удалил все статьи, страница не «сломается», на ней не появятся пустые контуры блоков, а боковая панель и поиск продолжат работать.</a:t>
            </a:r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7744" y="3861049"/>
            <a:ext cx="4608512" cy="27214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2371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/>
              <a:t>Какая польза от этих тестов в будущем?</a:t>
            </a:r>
            <a:endParaRPr lang="ru-RU" sz="24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57200" y="1646237"/>
            <a:ext cx="8229600" cy="846659"/>
          </a:xfrm>
        </p:spPr>
        <p:txBody>
          <a:bodyPr>
            <a:normAutofit fontScale="40000" lnSpcReduction="20000"/>
          </a:bodyPr>
          <a:lstStyle/>
          <a:p>
            <a:r>
              <a:rPr lang="ru-RU" dirty="0" smtClean="0"/>
              <a:t>Тесты </a:t>
            </a:r>
            <a:r>
              <a:rPr lang="ru-RU" dirty="0"/>
              <a:t>выполняют роль «сигнализации». Если вы или другой программист случайно измените код в views.py или опечатаетесь в </a:t>
            </a:r>
            <a:r>
              <a:rPr lang="ru-RU" dirty="0" smtClean="0"/>
              <a:t>шаблоне, </a:t>
            </a:r>
            <a:r>
              <a:rPr lang="ru-RU" dirty="0"/>
              <a:t>страница перестанет работать.</a:t>
            </a:r>
          </a:p>
          <a:p>
            <a:r>
              <a:rPr lang="ru-RU" dirty="0"/>
              <a:t>Вам не нужно будет заходить в браузер и кликать по страницам вручную — достаточно запустить </a:t>
            </a:r>
            <a:r>
              <a:rPr lang="ru-RU" dirty="0" err="1"/>
              <a:t>pytest</a:t>
            </a:r>
            <a:r>
              <a:rPr lang="ru-RU" dirty="0"/>
              <a:t>, и он за 1 секунду покажет, где именно сломалась логика отображения статей.</a:t>
            </a:r>
          </a:p>
          <a:p>
            <a:endParaRPr lang="ru-RU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550542"/>
            <a:ext cx="8452262" cy="145452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0574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E:\TOP\Pandas\mini-проект\Демонстрация\Добавление коментарие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772816"/>
            <a:ext cx="7992888" cy="40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3074" name="Picture 2" descr="E:\TOP\Pandas\mini-проект\Демонстрация\регистраци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1628799"/>
            <a:ext cx="6800428" cy="414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250</TotalTime>
  <Words>801</Words>
  <Application>Microsoft Office PowerPoint</Application>
  <PresentationFormat>Экран (4:3)</PresentationFormat>
  <Paragraphs>112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Литейная</vt:lpstr>
      <vt:lpstr>Блог/новостной портал АСУТП с авторизацией</vt:lpstr>
      <vt:lpstr>Презентация PowerPoint</vt:lpstr>
      <vt:lpstr>Описание проекта</vt:lpstr>
      <vt:lpstr>Постановка задачи / Проблематика </vt:lpstr>
      <vt:lpstr>Постановка задачи / Проблематика </vt:lpstr>
      <vt:lpstr>Анализ предметной области / Аналоги </vt:lpstr>
      <vt:lpstr>Библиотеки или компоненты Django использовались и зачем</vt:lpstr>
      <vt:lpstr>Тестирование / Валидация </vt:lpstr>
      <vt:lpstr>Какая польза от этих тестов в будущем?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21</cp:revision>
  <dcterms:created xsi:type="dcterms:W3CDTF">2026-03-28T08:39:26Z</dcterms:created>
  <dcterms:modified xsi:type="dcterms:W3CDTF">2026-06-13T09:32:58Z</dcterms:modified>
</cp:coreProperties>
</file>